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F30154-1D87-4ED5-AF81-9F3234E1A1DF}" type="doc">
      <dgm:prSet loTypeId="urn:microsoft.com/office/officeart/2005/8/layout/matrix3" loCatId="matrix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5A172B-2AEA-45C2-95D5-3009C0F43516}">
      <dgm:prSet/>
      <dgm:spPr/>
      <dgm:t>
        <a:bodyPr/>
        <a:lstStyle/>
        <a:p>
          <a:r>
            <a:rPr lang="en-US"/>
            <a:t>Potential Societal Impact:</a:t>
          </a:r>
        </a:p>
      </dgm:t>
    </dgm:pt>
    <dgm:pt modelId="{6D5CD26E-DA9F-40E7-81C7-0069E90D3C55}" type="parTrans" cxnId="{C3B24F1A-265D-444A-8E46-F49D9B120A28}">
      <dgm:prSet/>
      <dgm:spPr/>
      <dgm:t>
        <a:bodyPr/>
        <a:lstStyle/>
        <a:p>
          <a:endParaRPr lang="en-US"/>
        </a:p>
      </dgm:t>
    </dgm:pt>
    <dgm:pt modelId="{F9E84F68-561D-4117-9963-550E23E3A291}" type="sibTrans" cxnId="{C3B24F1A-265D-444A-8E46-F49D9B120A28}">
      <dgm:prSet/>
      <dgm:spPr/>
      <dgm:t>
        <a:bodyPr/>
        <a:lstStyle/>
        <a:p>
          <a:endParaRPr lang="en-US"/>
        </a:p>
      </dgm:t>
    </dgm:pt>
    <dgm:pt modelId="{5D300AAC-30C0-4F3A-928A-CBE55B3B3365}">
      <dgm:prSet/>
      <dgm:spPr/>
      <dgm:t>
        <a:bodyPr/>
        <a:lstStyle/>
        <a:p>
          <a:r>
            <a:rPr lang="en-US"/>
            <a:t>- The bill sets a precedent for state-level regulation of AI to protect vulnerable populations (e.g., children) and ensure responsible use.</a:t>
          </a:r>
        </a:p>
      </dgm:t>
    </dgm:pt>
    <dgm:pt modelId="{C3C80759-0642-4496-BD19-C869F8593287}" type="parTrans" cxnId="{F3B9BA0C-12F6-45E4-A6F0-2DBD3869F6D8}">
      <dgm:prSet/>
      <dgm:spPr/>
      <dgm:t>
        <a:bodyPr/>
        <a:lstStyle/>
        <a:p>
          <a:endParaRPr lang="en-US"/>
        </a:p>
      </dgm:t>
    </dgm:pt>
    <dgm:pt modelId="{2B01AB19-8C5D-438F-975F-51BC115EC9B4}" type="sibTrans" cxnId="{F3B9BA0C-12F6-45E4-A6F0-2DBD3869F6D8}">
      <dgm:prSet/>
      <dgm:spPr/>
      <dgm:t>
        <a:bodyPr/>
        <a:lstStyle/>
        <a:p>
          <a:endParaRPr lang="en-US"/>
        </a:p>
      </dgm:t>
    </dgm:pt>
    <dgm:pt modelId="{C0F0B3B0-49D5-4961-B664-D8416B4182E9}">
      <dgm:prSet/>
      <dgm:spPr/>
      <dgm:t>
        <a:bodyPr/>
        <a:lstStyle/>
        <a:p>
          <a:r>
            <a:rPr lang="en-US"/>
            <a:t>- Promotes AI literacy and prepares the workforce for future AI-driven industries, potentially driving economic growth.</a:t>
          </a:r>
        </a:p>
      </dgm:t>
    </dgm:pt>
    <dgm:pt modelId="{2BE55599-D537-4544-8B8D-A896DC4C9243}" type="parTrans" cxnId="{A7B07397-4CA8-49E2-9F87-E786AC20F967}">
      <dgm:prSet/>
      <dgm:spPr/>
      <dgm:t>
        <a:bodyPr/>
        <a:lstStyle/>
        <a:p>
          <a:endParaRPr lang="en-US"/>
        </a:p>
      </dgm:t>
    </dgm:pt>
    <dgm:pt modelId="{98C76713-C7D1-41EC-B57B-82A900116EA6}" type="sibTrans" cxnId="{A7B07397-4CA8-49E2-9F87-E786AC20F967}">
      <dgm:prSet/>
      <dgm:spPr/>
      <dgm:t>
        <a:bodyPr/>
        <a:lstStyle/>
        <a:p>
          <a:endParaRPr lang="en-US"/>
        </a:p>
      </dgm:t>
    </dgm:pt>
    <dgm:pt modelId="{EA77F27E-E690-440E-885A-63147670DC42}">
      <dgm:prSet/>
      <dgm:spPr/>
      <dgm:t>
        <a:bodyPr/>
        <a:lstStyle/>
        <a:p>
          <a:r>
            <a:rPr lang="en-US"/>
            <a:t>- Encourages trust in AI technologies and could influence national policy regarding AI regulation.</a:t>
          </a:r>
        </a:p>
      </dgm:t>
    </dgm:pt>
    <dgm:pt modelId="{4AD6D958-2F94-44C2-9E4B-29687D94D593}" type="parTrans" cxnId="{734D128F-D2B4-4007-9B85-01A96B6B4B72}">
      <dgm:prSet/>
      <dgm:spPr/>
      <dgm:t>
        <a:bodyPr/>
        <a:lstStyle/>
        <a:p>
          <a:endParaRPr lang="en-US"/>
        </a:p>
      </dgm:t>
    </dgm:pt>
    <dgm:pt modelId="{B83743A7-941C-4AC7-A5F5-621CD3309562}" type="sibTrans" cxnId="{734D128F-D2B4-4007-9B85-01A96B6B4B72}">
      <dgm:prSet/>
      <dgm:spPr/>
      <dgm:t>
        <a:bodyPr/>
        <a:lstStyle/>
        <a:p>
          <a:endParaRPr lang="en-US"/>
        </a:p>
      </dgm:t>
    </dgm:pt>
    <dgm:pt modelId="{5E93ADF1-E842-4202-8AE4-4E57126D08D3}" type="pres">
      <dgm:prSet presAssocID="{47F30154-1D87-4ED5-AF81-9F3234E1A1DF}" presName="matrix" presStyleCnt="0">
        <dgm:presLayoutVars>
          <dgm:chMax val="1"/>
          <dgm:dir/>
          <dgm:resizeHandles val="exact"/>
        </dgm:presLayoutVars>
      </dgm:prSet>
      <dgm:spPr/>
    </dgm:pt>
    <dgm:pt modelId="{B9D09E77-552C-4C9C-98C6-46ED810077AF}" type="pres">
      <dgm:prSet presAssocID="{47F30154-1D87-4ED5-AF81-9F3234E1A1DF}" presName="diamond" presStyleLbl="bgShp" presStyleIdx="0" presStyleCnt="1"/>
      <dgm:spPr/>
    </dgm:pt>
    <dgm:pt modelId="{6B5237CE-F1EE-42A0-BA51-7D334C2EC8AB}" type="pres">
      <dgm:prSet presAssocID="{47F30154-1D87-4ED5-AF81-9F3234E1A1D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7C21C10-49B7-4839-8FB5-78DD520A6EE4}" type="pres">
      <dgm:prSet presAssocID="{47F30154-1D87-4ED5-AF81-9F3234E1A1D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777E7E9-E2D1-4C11-99BC-66DB48080C13}" type="pres">
      <dgm:prSet presAssocID="{47F30154-1D87-4ED5-AF81-9F3234E1A1D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9848EC1-217F-440F-B09F-1DE21B0F4221}" type="pres">
      <dgm:prSet presAssocID="{47F30154-1D87-4ED5-AF81-9F3234E1A1D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3B9BA0C-12F6-45E4-A6F0-2DBD3869F6D8}" srcId="{47F30154-1D87-4ED5-AF81-9F3234E1A1DF}" destId="{5D300AAC-30C0-4F3A-928A-CBE55B3B3365}" srcOrd="1" destOrd="0" parTransId="{C3C80759-0642-4496-BD19-C869F8593287}" sibTransId="{2B01AB19-8C5D-438F-975F-51BC115EC9B4}"/>
    <dgm:cxn modelId="{C3B24F1A-265D-444A-8E46-F49D9B120A28}" srcId="{47F30154-1D87-4ED5-AF81-9F3234E1A1DF}" destId="{3E5A172B-2AEA-45C2-95D5-3009C0F43516}" srcOrd="0" destOrd="0" parTransId="{6D5CD26E-DA9F-40E7-81C7-0069E90D3C55}" sibTransId="{F9E84F68-561D-4117-9963-550E23E3A291}"/>
    <dgm:cxn modelId="{62BF3B20-AB4B-47FE-9B7E-2FB5B930AF0F}" type="presOf" srcId="{47F30154-1D87-4ED5-AF81-9F3234E1A1DF}" destId="{5E93ADF1-E842-4202-8AE4-4E57126D08D3}" srcOrd="0" destOrd="0" presId="urn:microsoft.com/office/officeart/2005/8/layout/matrix3"/>
    <dgm:cxn modelId="{F37F1A26-19B3-4F01-94AF-F0A92FD91A22}" type="presOf" srcId="{EA77F27E-E690-440E-885A-63147670DC42}" destId="{69848EC1-217F-440F-B09F-1DE21B0F4221}" srcOrd="0" destOrd="0" presId="urn:microsoft.com/office/officeart/2005/8/layout/matrix3"/>
    <dgm:cxn modelId="{4718075B-FAB2-4BFB-880A-E411822E6ECE}" type="presOf" srcId="{5D300AAC-30C0-4F3A-928A-CBE55B3B3365}" destId="{97C21C10-49B7-4839-8FB5-78DD520A6EE4}" srcOrd="0" destOrd="0" presId="urn:microsoft.com/office/officeart/2005/8/layout/matrix3"/>
    <dgm:cxn modelId="{734D128F-D2B4-4007-9B85-01A96B6B4B72}" srcId="{47F30154-1D87-4ED5-AF81-9F3234E1A1DF}" destId="{EA77F27E-E690-440E-885A-63147670DC42}" srcOrd="3" destOrd="0" parTransId="{4AD6D958-2F94-44C2-9E4B-29687D94D593}" sibTransId="{B83743A7-941C-4AC7-A5F5-621CD3309562}"/>
    <dgm:cxn modelId="{A7B07397-4CA8-49E2-9F87-E786AC20F967}" srcId="{47F30154-1D87-4ED5-AF81-9F3234E1A1DF}" destId="{C0F0B3B0-49D5-4961-B664-D8416B4182E9}" srcOrd="2" destOrd="0" parTransId="{2BE55599-D537-4544-8B8D-A896DC4C9243}" sibTransId="{98C76713-C7D1-41EC-B57B-82A900116EA6}"/>
    <dgm:cxn modelId="{1CF5B3A1-ED42-44F8-ADC1-E3223FA7E8FB}" type="presOf" srcId="{3E5A172B-2AEA-45C2-95D5-3009C0F43516}" destId="{6B5237CE-F1EE-42A0-BA51-7D334C2EC8AB}" srcOrd="0" destOrd="0" presId="urn:microsoft.com/office/officeart/2005/8/layout/matrix3"/>
    <dgm:cxn modelId="{CA314DE0-7579-4464-861B-C0E81E94DE80}" type="presOf" srcId="{C0F0B3B0-49D5-4961-B664-D8416B4182E9}" destId="{5777E7E9-E2D1-4C11-99BC-66DB48080C13}" srcOrd="0" destOrd="0" presId="urn:microsoft.com/office/officeart/2005/8/layout/matrix3"/>
    <dgm:cxn modelId="{68E0B8D5-027A-4A67-A11F-F67C91789500}" type="presParOf" srcId="{5E93ADF1-E842-4202-8AE4-4E57126D08D3}" destId="{B9D09E77-552C-4C9C-98C6-46ED810077AF}" srcOrd="0" destOrd="0" presId="urn:microsoft.com/office/officeart/2005/8/layout/matrix3"/>
    <dgm:cxn modelId="{96BF86C2-AE84-4B30-9CBB-FBA0674EF8FF}" type="presParOf" srcId="{5E93ADF1-E842-4202-8AE4-4E57126D08D3}" destId="{6B5237CE-F1EE-42A0-BA51-7D334C2EC8AB}" srcOrd="1" destOrd="0" presId="urn:microsoft.com/office/officeart/2005/8/layout/matrix3"/>
    <dgm:cxn modelId="{5C24B738-276B-4480-AE97-BDF8256E1FE3}" type="presParOf" srcId="{5E93ADF1-E842-4202-8AE4-4E57126D08D3}" destId="{97C21C10-49B7-4839-8FB5-78DD520A6EE4}" srcOrd="2" destOrd="0" presId="urn:microsoft.com/office/officeart/2005/8/layout/matrix3"/>
    <dgm:cxn modelId="{B4BCBC5E-C5A2-4BF5-8906-D07DED9645CD}" type="presParOf" srcId="{5E93ADF1-E842-4202-8AE4-4E57126D08D3}" destId="{5777E7E9-E2D1-4C11-99BC-66DB48080C13}" srcOrd="3" destOrd="0" presId="urn:microsoft.com/office/officeart/2005/8/layout/matrix3"/>
    <dgm:cxn modelId="{0ACD87B5-8C22-4E93-B8DD-C3ACB9D3BD8D}" type="presParOf" srcId="{5E93ADF1-E842-4202-8AE4-4E57126D08D3}" destId="{69848EC1-217F-440F-B09F-1DE21B0F422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96AE09-F838-4B8F-A812-868367C91271}" type="doc">
      <dgm:prSet loTypeId="urn:microsoft.com/office/officeart/2005/8/layout/matrix3" loCatId="matrix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9215E7-DE56-49AB-BD17-F9CBAD7737AD}">
      <dgm:prSet/>
      <dgm:spPr/>
      <dgm:t>
        <a:bodyPr/>
        <a:lstStyle/>
        <a:p>
          <a:r>
            <a:rPr lang="en-US"/>
            <a:t>Implications for Construction:</a:t>
          </a:r>
        </a:p>
      </dgm:t>
    </dgm:pt>
    <dgm:pt modelId="{730944E0-9F22-4900-9846-C31D6B4B1A79}" type="parTrans" cxnId="{1AF395A5-5005-47A6-8E2F-312C632EE409}">
      <dgm:prSet/>
      <dgm:spPr/>
      <dgm:t>
        <a:bodyPr/>
        <a:lstStyle/>
        <a:p>
          <a:endParaRPr lang="en-US"/>
        </a:p>
      </dgm:t>
    </dgm:pt>
    <dgm:pt modelId="{629F9553-36F7-4DB9-B85F-ABAEE051358E}" type="sibTrans" cxnId="{1AF395A5-5005-47A6-8E2F-312C632EE409}">
      <dgm:prSet/>
      <dgm:spPr/>
      <dgm:t>
        <a:bodyPr/>
        <a:lstStyle/>
        <a:p>
          <a:endParaRPr lang="en-US"/>
        </a:p>
      </dgm:t>
    </dgm:pt>
    <dgm:pt modelId="{ADEA4BEE-F04E-41F5-A362-FB7FFC21E4C8}">
      <dgm:prSet/>
      <dgm:spPr/>
      <dgm:t>
        <a:bodyPr/>
        <a:lstStyle/>
        <a:p>
          <a:r>
            <a:rPr lang="en-US"/>
            <a:t>- AI-driven tools, like chatbots for customer service or AI project management systems, can be regulated for transparency and safety.</a:t>
          </a:r>
        </a:p>
      </dgm:t>
    </dgm:pt>
    <dgm:pt modelId="{473BA6FB-13F4-4142-A4CA-A8B80E2D9089}" type="parTrans" cxnId="{5BF5695E-571B-4354-AEB4-515F347622D5}">
      <dgm:prSet/>
      <dgm:spPr/>
      <dgm:t>
        <a:bodyPr/>
        <a:lstStyle/>
        <a:p>
          <a:endParaRPr lang="en-US"/>
        </a:p>
      </dgm:t>
    </dgm:pt>
    <dgm:pt modelId="{20A6A9FC-5598-4AE1-BA20-846D50765256}" type="sibTrans" cxnId="{5BF5695E-571B-4354-AEB4-515F347622D5}">
      <dgm:prSet/>
      <dgm:spPr/>
      <dgm:t>
        <a:bodyPr/>
        <a:lstStyle/>
        <a:p>
          <a:endParaRPr lang="en-US"/>
        </a:p>
      </dgm:t>
    </dgm:pt>
    <dgm:pt modelId="{30B51B2D-958F-4065-A999-8C7A9D0ED039}">
      <dgm:prSet/>
      <dgm:spPr/>
      <dgm:t>
        <a:bodyPr/>
        <a:lstStyle/>
        <a:p>
          <a:r>
            <a:rPr lang="en-US"/>
            <a:t>- The emphasis on AI literacy could benefit the construction workforce by integrating AI technologies for tasks like safety monitoring, resource management, and project planning.</a:t>
          </a:r>
        </a:p>
      </dgm:t>
    </dgm:pt>
    <dgm:pt modelId="{5014E61D-9144-410C-A721-AFEAB0770758}" type="parTrans" cxnId="{186EB355-5BE1-4082-9ED4-BAB7277F1669}">
      <dgm:prSet/>
      <dgm:spPr/>
      <dgm:t>
        <a:bodyPr/>
        <a:lstStyle/>
        <a:p>
          <a:endParaRPr lang="en-US"/>
        </a:p>
      </dgm:t>
    </dgm:pt>
    <dgm:pt modelId="{919392EA-8E13-413A-832C-55E40B404B0F}" type="sibTrans" cxnId="{186EB355-5BE1-4082-9ED4-BAB7277F1669}">
      <dgm:prSet/>
      <dgm:spPr/>
      <dgm:t>
        <a:bodyPr/>
        <a:lstStyle/>
        <a:p>
          <a:endParaRPr lang="en-US"/>
        </a:p>
      </dgm:t>
    </dgm:pt>
    <dgm:pt modelId="{53F2EAAF-18B5-4858-A344-02E34DFEAB17}">
      <dgm:prSet/>
      <dgm:spPr/>
      <dgm:t>
        <a:bodyPr/>
        <a:lstStyle/>
        <a:p>
          <a:r>
            <a:rPr lang="en-US"/>
            <a:t>- Regulation ensures safe and ethical AI usage, potentially improving public trust in AI systems within the construction sector.</a:t>
          </a:r>
        </a:p>
      </dgm:t>
    </dgm:pt>
    <dgm:pt modelId="{A1D611A4-B8C7-4A51-A109-0E8100D64324}" type="parTrans" cxnId="{D279DC85-DD02-4D09-881B-FBE224DEC24C}">
      <dgm:prSet/>
      <dgm:spPr/>
      <dgm:t>
        <a:bodyPr/>
        <a:lstStyle/>
        <a:p>
          <a:endParaRPr lang="en-US"/>
        </a:p>
      </dgm:t>
    </dgm:pt>
    <dgm:pt modelId="{91636107-BF48-4642-B580-B2DEF715E17A}" type="sibTrans" cxnId="{D279DC85-DD02-4D09-881B-FBE224DEC24C}">
      <dgm:prSet/>
      <dgm:spPr/>
      <dgm:t>
        <a:bodyPr/>
        <a:lstStyle/>
        <a:p>
          <a:endParaRPr lang="en-US"/>
        </a:p>
      </dgm:t>
    </dgm:pt>
    <dgm:pt modelId="{F50FAB24-6460-44AB-B9CD-66234BED9449}" type="pres">
      <dgm:prSet presAssocID="{5196AE09-F838-4B8F-A812-868367C91271}" presName="matrix" presStyleCnt="0">
        <dgm:presLayoutVars>
          <dgm:chMax val="1"/>
          <dgm:dir/>
          <dgm:resizeHandles val="exact"/>
        </dgm:presLayoutVars>
      </dgm:prSet>
      <dgm:spPr/>
    </dgm:pt>
    <dgm:pt modelId="{2EA16447-5FBC-4963-9CA7-D9AA33895BBA}" type="pres">
      <dgm:prSet presAssocID="{5196AE09-F838-4B8F-A812-868367C91271}" presName="diamond" presStyleLbl="bgShp" presStyleIdx="0" presStyleCnt="1"/>
      <dgm:spPr/>
    </dgm:pt>
    <dgm:pt modelId="{7E9F28BD-75CB-4315-9FA8-F04FD8665D1A}" type="pres">
      <dgm:prSet presAssocID="{5196AE09-F838-4B8F-A812-868367C9127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49CE877-2016-4412-9BAC-56E28B00A172}" type="pres">
      <dgm:prSet presAssocID="{5196AE09-F838-4B8F-A812-868367C9127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0138D8F-4CDE-4142-BA2F-3A913D585E8A}" type="pres">
      <dgm:prSet presAssocID="{5196AE09-F838-4B8F-A812-868367C9127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D459EF2-2CDD-46B7-9D81-7605345C9E20}" type="pres">
      <dgm:prSet presAssocID="{5196AE09-F838-4B8F-A812-868367C9127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BF5695E-571B-4354-AEB4-515F347622D5}" srcId="{5196AE09-F838-4B8F-A812-868367C91271}" destId="{ADEA4BEE-F04E-41F5-A362-FB7FFC21E4C8}" srcOrd="1" destOrd="0" parTransId="{473BA6FB-13F4-4142-A4CA-A8B80E2D9089}" sibTransId="{20A6A9FC-5598-4AE1-BA20-846D50765256}"/>
    <dgm:cxn modelId="{4C574844-E9F5-432B-A814-5FD4BC69677F}" type="presOf" srcId="{53F2EAAF-18B5-4858-A344-02E34DFEAB17}" destId="{7D459EF2-2CDD-46B7-9D81-7605345C9E20}" srcOrd="0" destOrd="0" presId="urn:microsoft.com/office/officeart/2005/8/layout/matrix3"/>
    <dgm:cxn modelId="{186EB355-5BE1-4082-9ED4-BAB7277F1669}" srcId="{5196AE09-F838-4B8F-A812-868367C91271}" destId="{30B51B2D-958F-4065-A999-8C7A9D0ED039}" srcOrd="2" destOrd="0" parTransId="{5014E61D-9144-410C-A721-AFEAB0770758}" sibTransId="{919392EA-8E13-413A-832C-55E40B404B0F}"/>
    <dgm:cxn modelId="{D279DC85-DD02-4D09-881B-FBE224DEC24C}" srcId="{5196AE09-F838-4B8F-A812-868367C91271}" destId="{53F2EAAF-18B5-4858-A344-02E34DFEAB17}" srcOrd="3" destOrd="0" parTransId="{A1D611A4-B8C7-4A51-A109-0E8100D64324}" sibTransId="{91636107-BF48-4642-B580-B2DEF715E17A}"/>
    <dgm:cxn modelId="{AC339A87-71B8-4495-8144-9E3CCD41AF72}" type="presOf" srcId="{5196AE09-F838-4B8F-A812-868367C91271}" destId="{F50FAB24-6460-44AB-B9CD-66234BED9449}" srcOrd="0" destOrd="0" presId="urn:microsoft.com/office/officeart/2005/8/layout/matrix3"/>
    <dgm:cxn modelId="{5F064098-C4E5-481C-A6DA-4256FC08BC43}" type="presOf" srcId="{ADEA4BEE-F04E-41F5-A362-FB7FFC21E4C8}" destId="{749CE877-2016-4412-9BAC-56E28B00A172}" srcOrd="0" destOrd="0" presId="urn:microsoft.com/office/officeart/2005/8/layout/matrix3"/>
    <dgm:cxn modelId="{8B21C59A-91E4-46C5-B25E-F8D31F3D5312}" type="presOf" srcId="{30B51B2D-958F-4065-A999-8C7A9D0ED039}" destId="{80138D8F-4CDE-4142-BA2F-3A913D585E8A}" srcOrd="0" destOrd="0" presId="urn:microsoft.com/office/officeart/2005/8/layout/matrix3"/>
    <dgm:cxn modelId="{1AF395A5-5005-47A6-8E2F-312C632EE409}" srcId="{5196AE09-F838-4B8F-A812-868367C91271}" destId="{759215E7-DE56-49AB-BD17-F9CBAD7737AD}" srcOrd="0" destOrd="0" parTransId="{730944E0-9F22-4900-9846-C31D6B4B1A79}" sibTransId="{629F9553-36F7-4DB9-B85F-ABAEE051358E}"/>
    <dgm:cxn modelId="{130F33E7-5DAF-4413-8D33-EE4CEC131D83}" type="presOf" srcId="{759215E7-DE56-49AB-BD17-F9CBAD7737AD}" destId="{7E9F28BD-75CB-4315-9FA8-F04FD8665D1A}" srcOrd="0" destOrd="0" presId="urn:microsoft.com/office/officeart/2005/8/layout/matrix3"/>
    <dgm:cxn modelId="{DA848AA2-C90D-42CB-91C2-DA70D883F665}" type="presParOf" srcId="{F50FAB24-6460-44AB-B9CD-66234BED9449}" destId="{2EA16447-5FBC-4963-9CA7-D9AA33895BBA}" srcOrd="0" destOrd="0" presId="urn:microsoft.com/office/officeart/2005/8/layout/matrix3"/>
    <dgm:cxn modelId="{AACC4440-B937-4631-A841-959B17B2E5B6}" type="presParOf" srcId="{F50FAB24-6460-44AB-B9CD-66234BED9449}" destId="{7E9F28BD-75CB-4315-9FA8-F04FD8665D1A}" srcOrd="1" destOrd="0" presId="urn:microsoft.com/office/officeart/2005/8/layout/matrix3"/>
    <dgm:cxn modelId="{0A0F0AFB-78D0-44A4-8591-8480F8725E78}" type="presParOf" srcId="{F50FAB24-6460-44AB-B9CD-66234BED9449}" destId="{749CE877-2016-4412-9BAC-56E28B00A172}" srcOrd="2" destOrd="0" presId="urn:microsoft.com/office/officeart/2005/8/layout/matrix3"/>
    <dgm:cxn modelId="{B2AF337A-209A-4022-ADAC-2A1160873012}" type="presParOf" srcId="{F50FAB24-6460-44AB-B9CD-66234BED9449}" destId="{80138D8F-4CDE-4142-BA2F-3A913D585E8A}" srcOrd="3" destOrd="0" presId="urn:microsoft.com/office/officeart/2005/8/layout/matrix3"/>
    <dgm:cxn modelId="{CE1588E2-734E-4483-BA6D-EB7A0123E23B}" type="presParOf" srcId="{F50FAB24-6460-44AB-B9CD-66234BED9449}" destId="{7D459EF2-2CDD-46B7-9D81-7605345C9E2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00318D-515F-40AB-8697-ED638F0CA4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68FF683-2C89-4200-943B-4B43EB7D8F59}">
      <dgm:prSet/>
      <dgm:spPr/>
      <dgm:t>
        <a:bodyPr/>
        <a:lstStyle/>
        <a:p>
          <a:r>
            <a:rPr lang="en-US"/>
            <a:t>Key Takeaways:</a:t>
          </a:r>
        </a:p>
      </dgm:t>
    </dgm:pt>
    <dgm:pt modelId="{87BAA93B-9731-49EE-93B6-1C9F42AB671A}" type="parTrans" cxnId="{C1E6B47C-3502-4354-90D3-2EF4247C0C4C}">
      <dgm:prSet/>
      <dgm:spPr/>
      <dgm:t>
        <a:bodyPr/>
        <a:lstStyle/>
        <a:p>
          <a:endParaRPr lang="en-US"/>
        </a:p>
      </dgm:t>
    </dgm:pt>
    <dgm:pt modelId="{B03D47CC-A4C9-4305-B8FF-BDD6D721C652}" type="sibTrans" cxnId="{C1E6B47C-3502-4354-90D3-2EF4247C0C4C}">
      <dgm:prSet/>
      <dgm:spPr/>
      <dgm:t>
        <a:bodyPr/>
        <a:lstStyle/>
        <a:p>
          <a:endParaRPr lang="en-US"/>
        </a:p>
      </dgm:t>
    </dgm:pt>
    <dgm:pt modelId="{B422393A-BC4F-4C5A-8BF5-840E239A9D53}">
      <dgm:prSet/>
      <dgm:spPr/>
      <dgm:t>
        <a:bodyPr/>
        <a:lstStyle/>
        <a:p>
          <a:r>
            <a:rPr lang="en-US"/>
            <a:t>- The Connecticut bill on AI represents a significant move towards ensuring the safe, transparent use of AI technologies.</a:t>
          </a:r>
        </a:p>
      </dgm:t>
    </dgm:pt>
    <dgm:pt modelId="{295A8299-0460-4A13-A05E-5389170DA885}" type="parTrans" cxnId="{1A847883-F5B0-400F-B7B7-B94E1A1B3CE8}">
      <dgm:prSet/>
      <dgm:spPr/>
      <dgm:t>
        <a:bodyPr/>
        <a:lstStyle/>
        <a:p>
          <a:endParaRPr lang="en-US"/>
        </a:p>
      </dgm:t>
    </dgm:pt>
    <dgm:pt modelId="{798EDE59-1D94-4A82-BBC5-F08BAE0C74E4}" type="sibTrans" cxnId="{1A847883-F5B0-400F-B7B7-B94E1A1B3CE8}">
      <dgm:prSet/>
      <dgm:spPr/>
      <dgm:t>
        <a:bodyPr/>
        <a:lstStyle/>
        <a:p>
          <a:endParaRPr lang="en-US"/>
        </a:p>
      </dgm:t>
    </dgm:pt>
    <dgm:pt modelId="{B4A2F80F-2ECC-456F-8501-7F0957BC9EAE}">
      <dgm:prSet/>
      <dgm:spPr/>
      <dgm:t>
        <a:bodyPr/>
        <a:lstStyle/>
        <a:p>
          <a:r>
            <a:rPr lang="en-US"/>
            <a:t>- Its broader societal implications can influence industries, including construction, to adopt AI responsibly while fostering economic development and workforce empowerment.</a:t>
          </a:r>
        </a:p>
      </dgm:t>
    </dgm:pt>
    <dgm:pt modelId="{3D9BF2BF-6902-4E93-B045-EDC0836EC1DD}" type="parTrans" cxnId="{9614DB02-6C5D-42DC-B0E0-6A77C1F7354D}">
      <dgm:prSet/>
      <dgm:spPr/>
      <dgm:t>
        <a:bodyPr/>
        <a:lstStyle/>
        <a:p>
          <a:endParaRPr lang="en-US"/>
        </a:p>
      </dgm:t>
    </dgm:pt>
    <dgm:pt modelId="{238DDEFA-837A-48FC-8AD9-763429E04193}" type="sibTrans" cxnId="{9614DB02-6C5D-42DC-B0E0-6A77C1F7354D}">
      <dgm:prSet/>
      <dgm:spPr/>
      <dgm:t>
        <a:bodyPr/>
        <a:lstStyle/>
        <a:p>
          <a:endParaRPr lang="en-US"/>
        </a:p>
      </dgm:t>
    </dgm:pt>
    <dgm:pt modelId="{94886254-F403-4023-8A16-1D5047456030}" type="pres">
      <dgm:prSet presAssocID="{0800318D-515F-40AB-8697-ED638F0CA48E}" presName="root" presStyleCnt="0">
        <dgm:presLayoutVars>
          <dgm:dir/>
          <dgm:resizeHandles val="exact"/>
        </dgm:presLayoutVars>
      </dgm:prSet>
      <dgm:spPr/>
    </dgm:pt>
    <dgm:pt modelId="{D70EECAD-90F6-476F-A977-DA6AB6A54ED4}" type="pres">
      <dgm:prSet presAssocID="{068FF683-2C89-4200-943B-4B43EB7D8F59}" presName="compNode" presStyleCnt="0"/>
      <dgm:spPr/>
    </dgm:pt>
    <dgm:pt modelId="{C1EE39F6-8E5D-4B3D-AF62-AAF8206A4598}" type="pres">
      <dgm:prSet presAssocID="{068FF683-2C89-4200-943B-4B43EB7D8F59}" presName="bgRect" presStyleLbl="bgShp" presStyleIdx="0" presStyleCnt="3"/>
      <dgm:spPr/>
    </dgm:pt>
    <dgm:pt modelId="{D0E5BF76-C895-48D0-8302-9F336A6ADE89}" type="pres">
      <dgm:prSet presAssocID="{068FF683-2C89-4200-943B-4B43EB7D8F5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A372FBF-A24F-4CE1-9DE1-3C71D2720C4E}" type="pres">
      <dgm:prSet presAssocID="{068FF683-2C89-4200-943B-4B43EB7D8F59}" presName="spaceRect" presStyleCnt="0"/>
      <dgm:spPr/>
    </dgm:pt>
    <dgm:pt modelId="{212DC463-A28A-4D35-AF5E-92C23A4B333F}" type="pres">
      <dgm:prSet presAssocID="{068FF683-2C89-4200-943B-4B43EB7D8F59}" presName="parTx" presStyleLbl="revTx" presStyleIdx="0" presStyleCnt="3">
        <dgm:presLayoutVars>
          <dgm:chMax val="0"/>
          <dgm:chPref val="0"/>
        </dgm:presLayoutVars>
      </dgm:prSet>
      <dgm:spPr/>
    </dgm:pt>
    <dgm:pt modelId="{042EC1C6-412D-434F-9469-807E96633AD7}" type="pres">
      <dgm:prSet presAssocID="{B03D47CC-A4C9-4305-B8FF-BDD6D721C652}" presName="sibTrans" presStyleCnt="0"/>
      <dgm:spPr/>
    </dgm:pt>
    <dgm:pt modelId="{8F715C81-B409-460E-8CEF-3B493ECE176E}" type="pres">
      <dgm:prSet presAssocID="{B422393A-BC4F-4C5A-8BF5-840E239A9D53}" presName="compNode" presStyleCnt="0"/>
      <dgm:spPr/>
    </dgm:pt>
    <dgm:pt modelId="{527A2CA3-103E-47FF-B16A-D4DFBC4C522C}" type="pres">
      <dgm:prSet presAssocID="{B422393A-BC4F-4C5A-8BF5-840E239A9D53}" presName="bgRect" presStyleLbl="bgShp" presStyleIdx="1" presStyleCnt="3"/>
      <dgm:spPr/>
    </dgm:pt>
    <dgm:pt modelId="{F22EB25D-3817-4593-9524-7B1B21D9B390}" type="pres">
      <dgm:prSet presAssocID="{B422393A-BC4F-4C5A-8BF5-840E239A9D5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50D4280-A151-41E0-A072-E9B4FD43A7A1}" type="pres">
      <dgm:prSet presAssocID="{B422393A-BC4F-4C5A-8BF5-840E239A9D53}" presName="spaceRect" presStyleCnt="0"/>
      <dgm:spPr/>
    </dgm:pt>
    <dgm:pt modelId="{AB98F548-67D3-4CB5-BB9F-88ACC476BE5D}" type="pres">
      <dgm:prSet presAssocID="{B422393A-BC4F-4C5A-8BF5-840E239A9D53}" presName="parTx" presStyleLbl="revTx" presStyleIdx="1" presStyleCnt="3">
        <dgm:presLayoutVars>
          <dgm:chMax val="0"/>
          <dgm:chPref val="0"/>
        </dgm:presLayoutVars>
      </dgm:prSet>
      <dgm:spPr/>
    </dgm:pt>
    <dgm:pt modelId="{A1265F01-63CA-42E3-89CA-6D317F406293}" type="pres">
      <dgm:prSet presAssocID="{798EDE59-1D94-4A82-BBC5-F08BAE0C74E4}" presName="sibTrans" presStyleCnt="0"/>
      <dgm:spPr/>
    </dgm:pt>
    <dgm:pt modelId="{99B59428-B0AB-4A81-93F3-BABFF748BF57}" type="pres">
      <dgm:prSet presAssocID="{B4A2F80F-2ECC-456F-8501-7F0957BC9EAE}" presName="compNode" presStyleCnt="0"/>
      <dgm:spPr/>
    </dgm:pt>
    <dgm:pt modelId="{8BFA7FE0-0F97-44E4-AC1F-059F94A7BA63}" type="pres">
      <dgm:prSet presAssocID="{B4A2F80F-2ECC-456F-8501-7F0957BC9EAE}" presName="bgRect" presStyleLbl="bgShp" presStyleIdx="2" presStyleCnt="3"/>
      <dgm:spPr/>
    </dgm:pt>
    <dgm:pt modelId="{86420C6A-5FCE-43E5-9327-E76B33EC39C6}" type="pres">
      <dgm:prSet presAssocID="{B4A2F80F-2ECC-456F-8501-7F0957BC9EA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B34C286-CEB6-430D-89EE-74DEF3696883}" type="pres">
      <dgm:prSet presAssocID="{B4A2F80F-2ECC-456F-8501-7F0957BC9EAE}" presName="spaceRect" presStyleCnt="0"/>
      <dgm:spPr/>
    </dgm:pt>
    <dgm:pt modelId="{A32BD4A9-5A1F-4275-B4DD-BBFE418E72A7}" type="pres">
      <dgm:prSet presAssocID="{B4A2F80F-2ECC-456F-8501-7F0957BC9EA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614DB02-6C5D-42DC-B0E0-6A77C1F7354D}" srcId="{0800318D-515F-40AB-8697-ED638F0CA48E}" destId="{B4A2F80F-2ECC-456F-8501-7F0957BC9EAE}" srcOrd="2" destOrd="0" parTransId="{3D9BF2BF-6902-4E93-B045-EDC0836EC1DD}" sibTransId="{238DDEFA-837A-48FC-8AD9-763429E04193}"/>
    <dgm:cxn modelId="{FAE2FA36-61D9-4FD8-A712-DCFE35BE5290}" type="presOf" srcId="{0800318D-515F-40AB-8697-ED638F0CA48E}" destId="{94886254-F403-4023-8A16-1D5047456030}" srcOrd="0" destOrd="0" presId="urn:microsoft.com/office/officeart/2018/2/layout/IconVerticalSolidList"/>
    <dgm:cxn modelId="{C1E6B47C-3502-4354-90D3-2EF4247C0C4C}" srcId="{0800318D-515F-40AB-8697-ED638F0CA48E}" destId="{068FF683-2C89-4200-943B-4B43EB7D8F59}" srcOrd="0" destOrd="0" parTransId="{87BAA93B-9731-49EE-93B6-1C9F42AB671A}" sibTransId="{B03D47CC-A4C9-4305-B8FF-BDD6D721C652}"/>
    <dgm:cxn modelId="{1A847883-F5B0-400F-B7B7-B94E1A1B3CE8}" srcId="{0800318D-515F-40AB-8697-ED638F0CA48E}" destId="{B422393A-BC4F-4C5A-8BF5-840E239A9D53}" srcOrd="1" destOrd="0" parTransId="{295A8299-0460-4A13-A05E-5389170DA885}" sibTransId="{798EDE59-1D94-4A82-BBC5-F08BAE0C74E4}"/>
    <dgm:cxn modelId="{0FCBB9BC-9FE5-49F8-80A6-384D16D1BB99}" type="presOf" srcId="{B422393A-BC4F-4C5A-8BF5-840E239A9D53}" destId="{AB98F548-67D3-4CB5-BB9F-88ACC476BE5D}" srcOrd="0" destOrd="0" presId="urn:microsoft.com/office/officeart/2018/2/layout/IconVerticalSolidList"/>
    <dgm:cxn modelId="{8A8C95CC-A014-46D4-B365-2965229158F7}" type="presOf" srcId="{B4A2F80F-2ECC-456F-8501-7F0957BC9EAE}" destId="{A32BD4A9-5A1F-4275-B4DD-BBFE418E72A7}" srcOrd="0" destOrd="0" presId="urn:microsoft.com/office/officeart/2018/2/layout/IconVerticalSolidList"/>
    <dgm:cxn modelId="{907FBAF6-A105-4C02-9E81-0CCFEE086D0E}" type="presOf" srcId="{068FF683-2C89-4200-943B-4B43EB7D8F59}" destId="{212DC463-A28A-4D35-AF5E-92C23A4B333F}" srcOrd="0" destOrd="0" presId="urn:microsoft.com/office/officeart/2018/2/layout/IconVerticalSolidList"/>
    <dgm:cxn modelId="{4616E884-94F0-4D37-8967-F32F7B63BFE2}" type="presParOf" srcId="{94886254-F403-4023-8A16-1D5047456030}" destId="{D70EECAD-90F6-476F-A977-DA6AB6A54ED4}" srcOrd="0" destOrd="0" presId="urn:microsoft.com/office/officeart/2018/2/layout/IconVerticalSolidList"/>
    <dgm:cxn modelId="{DBFC229C-04D7-4843-BC62-C584DCB52415}" type="presParOf" srcId="{D70EECAD-90F6-476F-A977-DA6AB6A54ED4}" destId="{C1EE39F6-8E5D-4B3D-AF62-AAF8206A4598}" srcOrd="0" destOrd="0" presId="urn:microsoft.com/office/officeart/2018/2/layout/IconVerticalSolidList"/>
    <dgm:cxn modelId="{05CFE775-1935-42DB-96FD-EFF75A143A7E}" type="presParOf" srcId="{D70EECAD-90F6-476F-A977-DA6AB6A54ED4}" destId="{D0E5BF76-C895-48D0-8302-9F336A6ADE89}" srcOrd="1" destOrd="0" presId="urn:microsoft.com/office/officeart/2018/2/layout/IconVerticalSolidList"/>
    <dgm:cxn modelId="{CA2D383C-529E-498D-A7A4-D76D18F991AB}" type="presParOf" srcId="{D70EECAD-90F6-476F-A977-DA6AB6A54ED4}" destId="{4A372FBF-A24F-4CE1-9DE1-3C71D2720C4E}" srcOrd="2" destOrd="0" presId="urn:microsoft.com/office/officeart/2018/2/layout/IconVerticalSolidList"/>
    <dgm:cxn modelId="{FE8CAADA-3305-41BB-85EC-93E7F5C4F9D8}" type="presParOf" srcId="{D70EECAD-90F6-476F-A977-DA6AB6A54ED4}" destId="{212DC463-A28A-4D35-AF5E-92C23A4B333F}" srcOrd="3" destOrd="0" presId="urn:microsoft.com/office/officeart/2018/2/layout/IconVerticalSolidList"/>
    <dgm:cxn modelId="{94B8B419-18CB-4AF8-8D22-FFE85BCF78DC}" type="presParOf" srcId="{94886254-F403-4023-8A16-1D5047456030}" destId="{042EC1C6-412D-434F-9469-807E96633AD7}" srcOrd="1" destOrd="0" presId="urn:microsoft.com/office/officeart/2018/2/layout/IconVerticalSolidList"/>
    <dgm:cxn modelId="{189EF680-D9BE-4853-8A20-357EB7FBC92C}" type="presParOf" srcId="{94886254-F403-4023-8A16-1D5047456030}" destId="{8F715C81-B409-460E-8CEF-3B493ECE176E}" srcOrd="2" destOrd="0" presId="urn:microsoft.com/office/officeart/2018/2/layout/IconVerticalSolidList"/>
    <dgm:cxn modelId="{BE06F0CC-F6FB-4B0E-BD09-50CC6E3D7A63}" type="presParOf" srcId="{8F715C81-B409-460E-8CEF-3B493ECE176E}" destId="{527A2CA3-103E-47FF-B16A-D4DFBC4C522C}" srcOrd="0" destOrd="0" presId="urn:microsoft.com/office/officeart/2018/2/layout/IconVerticalSolidList"/>
    <dgm:cxn modelId="{E7C1B2FC-DE0C-4D2A-BBCA-ED1D11B4CEDE}" type="presParOf" srcId="{8F715C81-B409-460E-8CEF-3B493ECE176E}" destId="{F22EB25D-3817-4593-9524-7B1B21D9B390}" srcOrd="1" destOrd="0" presId="urn:microsoft.com/office/officeart/2018/2/layout/IconVerticalSolidList"/>
    <dgm:cxn modelId="{7C566356-911D-43EB-AD93-0F4DC79EDC6F}" type="presParOf" srcId="{8F715C81-B409-460E-8CEF-3B493ECE176E}" destId="{D50D4280-A151-41E0-A072-E9B4FD43A7A1}" srcOrd="2" destOrd="0" presId="urn:microsoft.com/office/officeart/2018/2/layout/IconVerticalSolidList"/>
    <dgm:cxn modelId="{20F063AC-5F02-49A0-9D5E-782F30199538}" type="presParOf" srcId="{8F715C81-B409-460E-8CEF-3B493ECE176E}" destId="{AB98F548-67D3-4CB5-BB9F-88ACC476BE5D}" srcOrd="3" destOrd="0" presId="urn:microsoft.com/office/officeart/2018/2/layout/IconVerticalSolidList"/>
    <dgm:cxn modelId="{4B73D463-C59A-4BD8-9F0C-8A85999D1F3B}" type="presParOf" srcId="{94886254-F403-4023-8A16-1D5047456030}" destId="{A1265F01-63CA-42E3-89CA-6D317F406293}" srcOrd="3" destOrd="0" presId="urn:microsoft.com/office/officeart/2018/2/layout/IconVerticalSolidList"/>
    <dgm:cxn modelId="{9129FA26-7595-4849-BCA2-620D29961854}" type="presParOf" srcId="{94886254-F403-4023-8A16-1D5047456030}" destId="{99B59428-B0AB-4A81-93F3-BABFF748BF57}" srcOrd="4" destOrd="0" presId="urn:microsoft.com/office/officeart/2018/2/layout/IconVerticalSolidList"/>
    <dgm:cxn modelId="{B7A8761D-7564-45C1-B981-625A55451063}" type="presParOf" srcId="{99B59428-B0AB-4A81-93F3-BABFF748BF57}" destId="{8BFA7FE0-0F97-44E4-AC1F-059F94A7BA63}" srcOrd="0" destOrd="0" presId="urn:microsoft.com/office/officeart/2018/2/layout/IconVerticalSolidList"/>
    <dgm:cxn modelId="{320BE793-189B-4914-A8A8-D522DBB8D0D8}" type="presParOf" srcId="{99B59428-B0AB-4A81-93F3-BABFF748BF57}" destId="{86420C6A-5FCE-43E5-9327-E76B33EC39C6}" srcOrd="1" destOrd="0" presId="urn:microsoft.com/office/officeart/2018/2/layout/IconVerticalSolidList"/>
    <dgm:cxn modelId="{FBFD9D8B-00A9-4D2D-A64D-F3DB6FDAD362}" type="presParOf" srcId="{99B59428-B0AB-4A81-93F3-BABFF748BF57}" destId="{AB34C286-CEB6-430D-89EE-74DEF3696883}" srcOrd="2" destOrd="0" presId="urn:microsoft.com/office/officeart/2018/2/layout/IconVerticalSolidList"/>
    <dgm:cxn modelId="{D36D5D62-1174-4DF9-B442-53E11C77BA05}" type="presParOf" srcId="{99B59428-B0AB-4A81-93F3-BABFF748BF57}" destId="{A32BD4A9-5A1F-4275-B4DD-BBFE418E72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D09E77-552C-4C9C-98C6-46ED810077AF}">
      <dsp:nvSpPr>
        <dsp:cNvPr id="0" name=""/>
        <dsp:cNvSpPr/>
      </dsp:nvSpPr>
      <dsp:spPr>
        <a:xfrm>
          <a:off x="0" y="406500"/>
          <a:ext cx="4435656" cy="4435656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B5237CE-F1EE-42A0-BA51-7D334C2EC8AB}">
      <dsp:nvSpPr>
        <dsp:cNvPr id="0" name=""/>
        <dsp:cNvSpPr/>
      </dsp:nvSpPr>
      <dsp:spPr>
        <a:xfrm>
          <a:off x="421387" y="827887"/>
          <a:ext cx="1729905" cy="172990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Potential Societal Impact:</a:t>
          </a:r>
        </a:p>
      </dsp:txBody>
      <dsp:txXfrm>
        <a:off x="505834" y="912334"/>
        <a:ext cx="1561011" cy="1561011"/>
      </dsp:txXfrm>
    </dsp:sp>
    <dsp:sp modelId="{97C21C10-49B7-4839-8FB5-78DD520A6EE4}">
      <dsp:nvSpPr>
        <dsp:cNvPr id="0" name=""/>
        <dsp:cNvSpPr/>
      </dsp:nvSpPr>
      <dsp:spPr>
        <a:xfrm>
          <a:off x="2284362" y="827887"/>
          <a:ext cx="1729905" cy="172990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1121052"/>
                <a:satOff val="-1191"/>
                <a:lumOff val="915"/>
                <a:alphaOff val="0"/>
                <a:shade val="74000"/>
                <a:satMod val="130000"/>
                <a:lumMod val="90000"/>
              </a:schemeClr>
              <a:schemeClr val="accent2">
                <a:hueOff val="1121052"/>
                <a:satOff val="-1191"/>
                <a:lumOff val="91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The bill sets a precedent for state-level regulation of AI to protect vulnerable populations (e.g., children) and ensure responsible use.</a:t>
          </a:r>
        </a:p>
      </dsp:txBody>
      <dsp:txXfrm>
        <a:off x="2368809" y="912334"/>
        <a:ext cx="1561011" cy="1561011"/>
      </dsp:txXfrm>
    </dsp:sp>
    <dsp:sp modelId="{5777E7E9-E2D1-4C11-99BC-66DB48080C13}">
      <dsp:nvSpPr>
        <dsp:cNvPr id="0" name=""/>
        <dsp:cNvSpPr/>
      </dsp:nvSpPr>
      <dsp:spPr>
        <a:xfrm>
          <a:off x="421387" y="2690863"/>
          <a:ext cx="1729905" cy="172990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2242103"/>
                <a:satOff val="-2381"/>
                <a:lumOff val="1830"/>
                <a:alphaOff val="0"/>
                <a:shade val="74000"/>
                <a:satMod val="130000"/>
                <a:lumMod val="90000"/>
              </a:schemeClr>
              <a:schemeClr val="accent2">
                <a:hueOff val="2242103"/>
                <a:satOff val="-2381"/>
                <a:lumOff val="183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Promotes AI literacy and prepares the workforce for future AI-driven industries, potentially driving economic growth.</a:t>
          </a:r>
        </a:p>
      </dsp:txBody>
      <dsp:txXfrm>
        <a:off x="505834" y="2775310"/>
        <a:ext cx="1561011" cy="1561011"/>
      </dsp:txXfrm>
    </dsp:sp>
    <dsp:sp modelId="{69848EC1-217F-440F-B09F-1DE21B0F4221}">
      <dsp:nvSpPr>
        <dsp:cNvPr id="0" name=""/>
        <dsp:cNvSpPr/>
      </dsp:nvSpPr>
      <dsp:spPr>
        <a:xfrm>
          <a:off x="2284362" y="2690863"/>
          <a:ext cx="1729905" cy="172990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3363155"/>
                <a:satOff val="-3572"/>
                <a:lumOff val="2745"/>
                <a:alphaOff val="0"/>
                <a:shade val="74000"/>
                <a:satMod val="130000"/>
                <a:lumMod val="90000"/>
              </a:schemeClr>
              <a:schemeClr val="accent2">
                <a:hueOff val="3363155"/>
                <a:satOff val="-3572"/>
                <a:lumOff val="274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Encourages trust in AI technologies and could influence national policy regarding AI regulation.</a:t>
          </a:r>
        </a:p>
      </dsp:txBody>
      <dsp:txXfrm>
        <a:off x="2368809" y="2775310"/>
        <a:ext cx="1561011" cy="15610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16447-5FBC-4963-9CA7-D9AA33895BBA}">
      <dsp:nvSpPr>
        <dsp:cNvPr id="0" name=""/>
        <dsp:cNvSpPr/>
      </dsp:nvSpPr>
      <dsp:spPr>
        <a:xfrm>
          <a:off x="0" y="406500"/>
          <a:ext cx="4435656" cy="4435656"/>
        </a:xfrm>
        <a:prstGeom prst="diamond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E9F28BD-75CB-4315-9FA8-F04FD8665D1A}">
      <dsp:nvSpPr>
        <dsp:cNvPr id="0" name=""/>
        <dsp:cNvSpPr/>
      </dsp:nvSpPr>
      <dsp:spPr>
        <a:xfrm>
          <a:off x="421387" y="827887"/>
          <a:ext cx="1729905" cy="172990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5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Implications for Construction:</a:t>
          </a:r>
        </a:p>
      </dsp:txBody>
      <dsp:txXfrm>
        <a:off x="505834" y="912334"/>
        <a:ext cx="1561011" cy="1561011"/>
      </dsp:txXfrm>
    </dsp:sp>
    <dsp:sp modelId="{749CE877-2016-4412-9BAC-56E28B00A172}">
      <dsp:nvSpPr>
        <dsp:cNvPr id="0" name=""/>
        <dsp:cNvSpPr/>
      </dsp:nvSpPr>
      <dsp:spPr>
        <a:xfrm>
          <a:off x="2284362" y="827887"/>
          <a:ext cx="1729905" cy="172990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331055"/>
                <a:satOff val="192"/>
                <a:lumOff val="1895"/>
                <a:alphaOff val="0"/>
                <a:shade val="74000"/>
                <a:satMod val="130000"/>
                <a:lumMod val="90000"/>
              </a:schemeClr>
              <a:schemeClr val="accent5">
                <a:hueOff val="331055"/>
                <a:satOff val="192"/>
                <a:lumOff val="189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AI-driven tools, like chatbots for customer service or AI project management systems, can be regulated for transparency and safety.</a:t>
          </a:r>
        </a:p>
      </dsp:txBody>
      <dsp:txXfrm>
        <a:off x="2368809" y="912334"/>
        <a:ext cx="1561011" cy="1561011"/>
      </dsp:txXfrm>
    </dsp:sp>
    <dsp:sp modelId="{80138D8F-4CDE-4142-BA2F-3A913D585E8A}">
      <dsp:nvSpPr>
        <dsp:cNvPr id="0" name=""/>
        <dsp:cNvSpPr/>
      </dsp:nvSpPr>
      <dsp:spPr>
        <a:xfrm>
          <a:off x="421387" y="2690863"/>
          <a:ext cx="1729905" cy="172990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662110"/>
                <a:satOff val="384"/>
                <a:lumOff val="3791"/>
                <a:alphaOff val="0"/>
                <a:shade val="74000"/>
                <a:satMod val="130000"/>
                <a:lumMod val="90000"/>
              </a:schemeClr>
              <a:schemeClr val="accent5">
                <a:hueOff val="662110"/>
                <a:satOff val="384"/>
                <a:lumOff val="3791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The emphasis on AI literacy could benefit the construction workforce by integrating AI technologies for tasks like safety monitoring, resource management, and project planning.</a:t>
          </a:r>
        </a:p>
      </dsp:txBody>
      <dsp:txXfrm>
        <a:off x="505834" y="2775310"/>
        <a:ext cx="1561011" cy="1561011"/>
      </dsp:txXfrm>
    </dsp:sp>
    <dsp:sp modelId="{7D459EF2-2CDD-46B7-9D81-7605345C9E20}">
      <dsp:nvSpPr>
        <dsp:cNvPr id="0" name=""/>
        <dsp:cNvSpPr/>
      </dsp:nvSpPr>
      <dsp:spPr>
        <a:xfrm>
          <a:off x="2284362" y="2690863"/>
          <a:ext cx="1729905" cy="1729905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993165"/>
                <a:satOff val="576"/>
                <a:lumOff val="5686"/>
                <a:alphaOff val="0"/>
                <a:shade val="74000"/>
                <a:satMod val="130000"/>
                <a:lumMod val="90000"/>
              </a:schemeClr>
              <a:schemeClr val="accent5">
                <a:hueOff val="993165"/>
                <a:satOff val="576"/>
                <a:lumOff val="5686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Regulation ensures safe and ethical AI usage, potentially improving public trust in AI systems within the construction sector.</a:t>
          </a:r>
        </a:p>
      </dsp:txBody>
      <dsp:txXfrm>
        <a:off x="2368809" y="2775310"/>
        <a:ext cx="1561011" cy="15610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EE39F6-8E5D-4B3D-AF62-AAF8206A4598}">
      <dsp:nvSpPr>
        <dsp:cNvPr id="0" name=""/>
        <dsp:cNvSpPr/>
      </dsp:nvSpPr>
      <dsp:spPr>
        <a:xfrm>
          <a:off x="0" y="2202"/>
          <a:ext cx="4435656" cy="15048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5BF76-C895-48D0-8302-9F336A6ADE89}">
      <dsp:nvSpPr>
        <dsp:cNvPr id="0" name=""/>
        <dsp:cNvSpPr/>
      </dsp:nvSpPr>
      <dsp:spPr>
        <a:xfrm>
          <a:off x="455223" y="340798"/>
          <a:ext cx="827679" cy="8276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DC463-A28A-4D35-AF5E-92C23A4B333F}">
      <dsp:nvSpPr>
        <dsp:cNvPr id="0" name=""/>
        <dsp:cNvSpPr/>
      </dsp:nvSpPr>
      <dsp:spPr>
        <a:xfrm>
          <a:off x="1738127" y="2202"/>
          <a:ext cx="2632116" cy="1504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66" tIns="159266" rIns="159266" bIns="15926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Key Takeaways:</a:t>
          </a:r>
        </a:p>
      </dsp:txBody>
      <dsp:txXfrm>
        <a:off x="1738127" y="2202"/>
        <a:ext cx="2632116" cy="1504872"/>
      </dsp:txXfrm>
    </dsp:sp>
    <dsp:sp modelId="{527A2CA3-103E-47FF-B16A-D4DFBC4C522C}">
      <dsp:nvSpPr>
        <dsp:cNvPr id="0" name=""/>
        <dsp:cNvSpPr/>
      </dsp:nvSpPr>
      <dsp:spPr>
        <a:xfrm>
          <a:off x="0" y="1871892"/>
          <a:ext cx="4435656" cy="15048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EB25D-3817-4593-9524-7B1B21D9B390}">
      <dsp:nvSpPr>
        <dsp:cNvPr id="0" name=""/>
        <dsp:cNvSpPr/>
      </dsp:nvSpPr>
      <dsp:spPr>
        <a:xfrm>
          <a:off x="455223" y="2210488"/>
          <a:ext cx="827679" cy="8276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8F548-67D3-4CB5-BB9F-88ACC476BE5D}">
      <dsp:nvSpPr>
        <dsp:cNvPr id="0" name=""/>
        <dsp:cNvSpPr/>
      </dsp:nvSpPr>
      <dsp:spPr>
        <a:xfrm>
          <a:off x="1738127" y="1871892"/>
          <a:ext cx="2632116" cy="1504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66" tIns="159266" rIns="159266" bIns="15926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The Connecticut bill on AI represents a significant move towards ensuring the safe, transparent use of AI technologies.</a:t>
          </a:r>
        </a:p>
      </dsp:txBody>
      <dsp:txXfrm>
        <a:off x="1738127" y="1871892"/>
        <a:ext cx="2632116" cy="1504872"/>
      </dsp:txXfrm>
    </dsp:sp>
    <dsp:sp modelId="{8BFA7FE0-0F97-44E4-AC1F-059F94A7BA63}">
      <dsp:nvSpPr>
        <dsp:cNvPr id="0" name=""/>
        <dsp:cNvSpPr/>
      </dsp:nvSpPr>
      <dsp:spPr>
        <a:xfrm>
          <a:off x="0" y="3741582"/>
          <a:ext cx="4435656" cy="150487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20C6A-5FCE-43E5-9327-E76B33EC39C6}">
      <dsp:nvSpPr>
        <dsp:cNvPr id="0" name=""/>
        <dsp:cNvSpPr/>
      </dsp:nvSpPr>
      <dsp:spPr>
        <a:xfrm>
          <a:off x="455223" y="4080178"/>
          <a:ext cx="827679" cy="8276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BD4A9-5A1F-4275-B4DD-BBFE418E72A7}">
      <dsp:nvSpPr>
        <dsp:cNvPr id="0" name=""/>
        <dsp:cNvSpPr/>
      </dsp:nvSpPr>
      <dsp:spPr>
        <a:xfrm>
          <a:off x="1738127" y="3741582"/>
          <a:ext cx="2632116" cy="1504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266" tIns="159266" rIns="159266" bIns="159266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- Its broader societal implications can influence industries, including construction, to adopt AI responsibly while fostering economic development and workforce empowerment.</a:t>
          </a:r>
        </a:p>
      </dsp:txBody>
      <dsp:txXfrm>
        <a:off x="1738127" y="3741582"/>
        <a:ext cx="2632116" cy="1504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04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1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31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7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85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3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7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22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9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1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425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475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65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86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20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817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89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6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47087-DEE1-4F23-8486-A2690AA19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BB81AE-EE4A-4AA4-8941-104B6C943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88137"/>
            <a:ext cx="8420582" cy="58832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4" name="Picture 3" descr="image(444).png"/>
          <p:cNvPicPr>
            <a:picLocks noChangeAspect="1"/>
          </p:cNvPicPr>
          <p:nvPr/>
        </p:nvPicPr>
        <p:blipFill>
          <a:blip r:embed="rId3">
            <a:alphaModFix amt="50000"/>
          </a:blip>
          <a:srcRect l="1323" r="25683" b="1"/>
          <a:stretch>
            <a:fillRect/>
          </a:stretch>
        </p:blipFill>
        <p:spPr>
          <a:xfrm>
            <a:off x="364603" y="488137"/>
            <a:ext cx="8420582" cy="588329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A791FC-1AEF-4561-93B5-6B9E981BB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5960" y="3594428"/>
            <a:ext cx="52120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AA2202F-2A68-464D-8E53-CEBE9303D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82296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129734-DF6D-46B8-A0E0-4F178B3AD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9176000" cy="658368"/>
            <a:chOff x="-18288" y="3128956"/>
            <a:chExt cx="12234672" cy="658368"/>
          </a:xfrm>
        </p:grpSpPr>
        <p:sp useBgFill="1">
          <p:nvSpPr>
            <p:cNvPr id="18" name="Rounded Rectangle 21">
              <a:extLst>
                <a:ext uri="{FF2B5EF4-FFF2-40B4-BE49-F238E27FC236}">
                  <a16:creationId xmlns:a16="http://schemas.microsoft.com/office/drawing/2014/main" id="{6A986578-4991-4E9B-94B7-056F6B09B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57D0097-ACF2-46A6-804C-C5D55A18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0" name="Rounded Rectangle 27">
              <a:extLst>
                <a:ext uri="{FF2B5EF4-FFF2-40B4-BE49-F238E27FC236}">
                  <a16:creationId xmlns:a16="http://schemas.microsoft.com/office/drawing/2014/main" id="{A71DA5EB-109A-4C2F-A093-7E5F6490B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A85B8CE-EB01-4DD0-8B39-D413503D7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302" y="1113698"/>
            <a:ext cx="6172200" cy="23452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>
                <a:solidFill>
                  <a:schemeClr val="bg1"/>
                </a:solidFill>
              </a:rPr>
              <a:t>AI Bill Targeting Chatbot Risks, Child Safety Passes CT State Senate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9752" y="3729894"/>
            <a:ext cx="5829300" cy="13208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Publication Date: April 21, 2026</a:t>
            </a: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Source: CT Insider</a:t>
            </a:r>
          </a:p>
          <a:p>
            <a:pPr>
              <a:lnSpc>
                <a:spcPct val="90000"/>
              </a:lnSpc>
            </a:pPr>
            <a:r>
              <a:rPr lang="en-US" sz="1400">
                <a:solidFill>
                  <a:schemeClr val="bg1"/>
                </a:solidFill>
              </a:rPr>
              <a:t>Link to Source: https://www.ctinsider.com/politics/article/connecticut-state-senate-approves-regulations-ai-22217752.php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7" y="469900"/>
            <a:ext cx="2771251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51" y="635508"/>
            <a:ext cx="2523744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081" y="954756"/>
            <a:ext cx="2047810" cy="494600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Summary of the Article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0722" y="0"/>
            <a:ext cx="5653278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700" y="469900"/>
            <a:ext cx="4465223" cy="54059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Main Findings &amp; Arguments:</a:t>
            </a:r>
          </a:p>
          <a:p>
            <a:pPr>
              <a:lnSpc>
                <a:spcPct val="90000"/>
              </a:lnSpc>
            </a:pPr>
            <a:r>
              <a:rPr lang="en-US" sz="2000"/>
              <a:t>- The Connecticut State Senate passed a bipartisan bill to regulate AI technologies, focusing on chatbot risks and child safety.</a:t>
            </a:r>
          </a:p>
          <a:p>
            <a:pPr>
              <a:lnSpc>
                <a:spcPct val="90000"/>
              </a:lnSpc>
            </a:pPr>
            <a:r>
              <a:rPr lang="en-US" sz="2000"/>
              <a:t>- The bill also aims to encourage workforce development and mandate transparency in the AI industry.</a:t>
            </a:r>
          </a:p>
          <a:p>
            <a:pPr>
              <a:lnSpc>
                <a:spcPct val="90000"/>
              </a:lnSpc>
            </a:pPr>
            <a:r>
              <a:rPr lang="en-US" sz="2000"/>
              <a:t>- Governor Ned Lamont supports the bill, citing its potential to empower residents to use AI responsibly.</a:t>
            </a:r>
          </a:p>
          <a:p>
            <a:pPr>
              <a:lnSpc>
                <a:spcPct val="90000"/>
              </a:lnSpc>
            </a:pPr>
            <a:r>
              <a:rPr lang="en-US" sz="2000"/>
              <a:t>- Key aspects of the bill include AI literacy, economic growth, and child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96088"/>
            <a:ext cx="2867411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2664004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Broader Implications for Society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2"/>
            <a:ext cx="5654961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255B8A-EF35-9C48-1A44-2CEFED048B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950303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96088"/>
            <a:ext cx="2867411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2664004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r>
              <a:rPr lang="en-US" sz="2500">
                <a:solidFill>
                  <a:srgbClr val="262626"/>
                </a:solidFill>
              </a:rPr>
              <a:t>Relevance to the Construction Industry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2"/>
            <a:ext cx="5654961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84F6D5-B8C5-5ED1-8E59-5BD802262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144196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496088"/>
            <a:ext cx="2867411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609600"/>
            <a:ext cx="2664004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1055077"/>
            <a:ext cx="1899682" cy="479457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Conclusion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2"/>
            <a:ext cx="5654961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8F56CA-A2FA-EFF5-8908-31D6A9D6F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399026"/>
              </p:ext>
            </p:extLst>
          </p:nvPr>
        </p:nvGraphicFramePr>
        <p:xfrm>
          <a:off x="4102554" y="804670"/>
          <a:ext cx="4435656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324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AI Bill Targeting Chatbot Risks, Child Safety Passes CT State Senate</vt:lpstr>
      <vt:lpstr>Summary of the Article</vt:lpstr>
      <vt:lpstr>Broader Implications for Society</vt:lpstr>
      <vt:lpstr>Relevance to the Construction Industry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Islam, Majedul</cp:lastModifiedBy>
  <cp:revision>2</cp:revision>
  <dcterms:created xsi:type="dcterms:W3CDTF">2013-01-27T09:14:16Z</dcterms:created>
  <dcterms:modified xsi:type="dcterms:W3CDTF">2026-04-22T07:49:38Z</dcterms:modified>
  <cp:category/>
</cp:coreProperties>
</file>