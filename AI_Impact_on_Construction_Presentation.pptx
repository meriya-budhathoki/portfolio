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5F065C-3966-4604-8C0B-7E5B0F18F724}" v="11" dt="2026-04-11T13:50:44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iya Budhathoki" userId="059dd2c3a8161ba2" providerId="LiveId" clId="{B5166E12-B5F1-4FDE-A0E5-6F4F0260F79B}"/>
    <pc:docChg chg="custSel modSld">
      <pc:chgData name="Meriya Budhathoki" userId="059dd2c3a8161ba2" providerId="LiveId" clId="{B5166E12-B5F1-4FDE-A0E5-6F4F0260F79B}" dt="2026-04-11T13:55:50.815" v="21" actId="21"/>
      <pc:docMkLst>
        <pc:docMk/>
      </pc:docMkLst>
      <pc:sldChg chg="addSp delSp modSp mod delAnim">
        <pc:chgData name="Meriya Budhathoki" userId="059dd2c3a8161ba2" providerId="LiveId" clId="{B5166E12-B5F1-4FDE-A0E5-6F4F0260F79B}" dt="2026-04-11T13:55:29.407" v="17" actId="21"/>
        <pc:sldMkLst>
          <pc:docMk/>
          <pc:sldMk cId="0" sldId="256"/>
        </pc:sldMkLst>
        <pc:picChg chg="add del mod">
          <ac:chgData name="Meriya Budhathoki" userId="059dd2c3a8161ba2" providerId="LiveId" clId="{B5166E12-B5F1-4FDE-A0E5-6F4F0260F79B}" dt="2026-04-11T13:42:28.119" v="1" actId="21"/>
          <ac:picMkLst>
            <pc:docMk/>
            <pc:sldMk cId="0" sldId="256"/>
            <ac:picMk id="4" creationId="{CABC0ABE-B9F3-7BEB-9614-AA6D383506E7}"/>
          </ac:picMkLst>
        </pc:picChg>
        <pc:picChg chg="add del mod">
          <ac:chgData name="Meriya Budhathoki" userId="059dd2c3a8161ba2" providerId="LiveId" clId="{B5166E12-B5F1-4FDE-A0E5-6F4F0260F79B}" dt="2026-04-11T13:42:46.692" v="3" actId="21"/>
          <ac:picMkLst>
            <pc:docMk/>
            <pc:sldMk cId="0" sldId="256"/>
            <ac:picMk id="6" creationId="{8D353ED5-32B8-3861-DC9F-A25D2BFE73FE}"/>
          </ac:picMkLst>
        </pc:picChg>
        <pc:picChg chg="add del mod">
          <ac:chgData name="Meriya Budhathoki" userId="059dd2c3a8161ba2" providerId="LiveId" clId="{B5166E12-B5F1-4FDE-A0E5-6F4F0260F79B}" dt="2026-04-11T13:55:29.407" v="17" actId="21"/>
          <ac:picMkLst>
            <pc:docMk/>
            <pc:sldMk cId="0" sldId="256"/>
            <ac:picMk id="7" creationId="{4A13B392-39A1-5B81-2D36-86F8A65C231C}"/>
          </ac:picMkLst>
        </pc:picChg>
      </pc:sldChg>
      <pc:sldChg chg="addSp delSp modSp mod delAnim">
        <pc:chgData name="Meriya Budhathoki" userId="059dd2c3a8161ba2" providerId="LiveId" clId="{B5166E12-B5F1-4FDE-A0E5-6F4F0260F79B}" dt="2026-04-11T13:55:40.971" v="19" actId="21"/>
        <pc:sldMkLst>
          <pc:docMk/>
          <pc:sldMk cId="0" sldId="257"/>
        </pc:sldMkLst>
        <pc:picChg chg="add del mod">
          <ac:chgData name="Meriya Budhathoki" userId="059dd2c3a8161ba2" providerId="LiveId" clId="{B5166E12-B5F1-4FDE-A0E5-6F4F0260F79B}" dt="2026-04-11T13:45:22.383" v="11" actId="21"/>
          <ac:picMkLst>
            <pc:docMk/>
            <pc:sldMk cId="0" sldId="257"/>
            <ac:picMk id="4" creationId="{AA3CA097-DE7C-038F-4476-5D153D62F4E6}"/>
          </ac:picMkLst>
        </pc:picChg>
        <pc:picChg chg="add del mod">
          <ac:chgData name="Meriya Budhathoki" userId="059dd2c3a8161ba2" providerId="LiveId" clId="{B5166E12-B5F1-4FDE-A0E5-6F4F0260F79B}" dt="2026-04-11T13:55:40.971" v="19" actId="21"/>
          <ac:picMkLst>
            <pc:docMk/>
            <pc:sldMk cId="0" sldId="257"/>
            <ac:picMk id="6" creationId="{CDEAC882-18CB-003D-D6CC-969C0A84A0B0}"/>
          </ac:picMkLst>
        </pc:picChg>
      </pc:sldChg>
      <pc:sldChg chg="addSp delSp modSp mod delAnim">
        <pc:chgData name="Meriya Budhathoki" userId="059dd2c3a8161ba2" providerId="LiveId" clId="{B5166E12-B5F1-4FDE-A0E5-6F4F0260F79B}" dt="2026-04-11T13:55:45.739" v="20" actId="21"/>
        <pc:sldMkLst>
          <pc:docMk/>
          <pc:sldMk cId="0" sldId="258"/>
        </pc:sldMkLst>
        <pc:picChg chg="add del mod">
          <ac:chgData name="Meriya Budhathoki" userId="059dd2c3a8161ba2" providerId="LiveId" clId="{B5166E12-B5F1-4FDE-A0E5-6F4F0260F79B}" dt="2026-04-11T13:55:45.739" v="20" actId="21"/>
          <ac:picMkLst>
            <pc:docMk/>
            <pc:sldMk cId="0" sldId="258"/>
            <ac:picMk id="4" creationId="{CD06095E-396C-AACE-C330-459A78F35469}"/>
          </ac:picMkLst>
        </pc:picChg>
      </pc:sldChg>
      <pc:sldChg chg="addSp delSp modSp mod delAnim">
        <pc:chgData name="Meriya Budhathoki" userId="059dd2c3a8161ba2" providerId="LiveId" clId="{B5166E12-B5F1-4FDE-A0E5-6F4F0260F79B}" dt="2026-04-11T13:55:50.815" v="21" actId="21"/>
        <pc:sldMkLst>
          <pc:docMk/>
          <pc:sldMk cId="0" sldId="259"/>
        </pc:sldMkLst>
        <pc:picChg chg="add del mod">
          <ac:chgData name="Meriya Budhathoki" userId="059dd2c3a8161ba2" providerId="LiveId" clId="{B5166E12-B5F1-4FDE-A0E5-6F4F0260F79B}" dt="2026-04-11T13:49:30.390" v="15" actId="21"/>
          <ac:picMkLst>
            <pc:docMk/>
            <pc:sldMk cId="0" sldId="259"/>
            <ac:picMk id="4" creationId="{42CE4C80-A8C2-C6FA-EF00-E784A6CC7E4B}"/>
          </ac:picMkLst>
        </pc:picChg>
        <pc:picChg chg="add del mod">
          <ac:chgData name="Meriya Budhathoki" userId="059dd2c3a8161ba2" providerId="LiveId" clId="{B5166E12-B5F1-4FDE-A0E5-6F4F0260F79B}" dt="2026-04-11T13:55:50.815" v="21" actId="21"/>
          <ac:picMkLst>
            <pc:docMk/>
            <pc:sldMk cId="0" sldId="259"/>
            <ac:picMk id="6" creationId="{A7D96007-6E26-BE04-DA3F-020A8BD7148E}"/>
          </ac:picMkLst>
        </pc:picChg>
      </pc:sldChg>
      <pc:sldChg chg="addSp delSp modSp mod delAnim">
        <pc:chgData name="Meriya Budhathoki" userId="059dd2c3a8161ba2" providerId="LiveId" clId="{B5166E12-B5F1-4FDE-A0E5-6F4F0260F79B}" dt="2026-04-11T13:55:35.158" v="18" actId="21"/>
        <pc:sldMkLst>
          <pc:docMk/>
          <pc:sldMk cId="0" sldId="260"/>
        </pc:sldMkLst>
        <pc:picChg chg="add del mod">
          <ac:chgData name="Meriya Budhathoki" userId="059dd2c3a8161ba2" providerId="LiveId" clId="{B5166E12-B5F1-4FDE-A0E5-6F4F0260F79B}" dt="2026-04-11T13:43:52.960" v="6" actId="21"/>
          <ac:picMkLst>
            <pc:docMk/>
            <pc:sldMk cId="0" sldId="260"/>
            <ac:picMk id="4" creationId="{A368C22C-F048-F6A0-F188-AF19043F7D3B}"/>
          </ac:picMkLst>
        </pc:picChg>
        <pc:picChg chg="add del mod">
          <ac:chgData name="Meriya Budhathoki" userId="059dd2c3a8161ba2" providerId="LiveId" clId="{B5166E12-B5F1-4FDE-A0E5-6F4F0260F79B}" dt="2026-04-11T13:44:15.378" v="8" actId="21"/>
          <ac:picMkLst>
            <pc:docMk/>
            <pc:sldMk cId="0" sldId="260"/>
            <ac:picMk id="5" creationId="{1BAA2128-FCF0-7186-C0DA-EEA8E00A6C03}"/>
          </ac:picMkLst>
        </pc:picChg>
        <pc:picChg chg="add del mod">
          <ac:chgData name="Meriya Budhathoki" userId="059dd2c3a8161ba2" providerId="LiveId" clId="{B5166E12-B5F1-4FDE-A0E5-6F4F0260F79B}" dt="2026-04-11T13:55:35.158" v="18" actId="21"/>
          <ac:picMkLst>
            <pc:docMk/>
            <pc:sldMk cId="0" sldId="260"/>
            <ac:picMk id="6" creationId="{F3CF7479-D4E6-A6B4-0404-ADAC6AF2BAC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432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72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47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81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231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932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53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130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53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84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567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20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98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64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489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447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061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5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DF8837B-BAE2-489A-8F93-69216307D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opening laptop">
            <a:extLst>
              <a:ext uri="{FF2B5EF4-FFF2-40B4-BE49-F238E27FC236}">
                <a16:creationId xmlns:a16="http://schemas.microsoft.com/office/drawing/2014/main" id="{91C9DBCB-5708-C3CA-DC49-99D56589BB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8" y="1871131"/>
            <a:ext cx="5111752" cy="15155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>
                <a:solidFill>
                  <a:srgbClr val="FFFFFF"/>
                </a:solidFill>
              </a:rPr>
              <a:t>California Cements Its Role as the National Testing Ground for AI Rules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8" y="3657597"/>
            <a:ext cx="5111752" cy="132080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 dirty="0">
                <a:solidFill>
                  <a:srgbClr val="FFFFFF"/>
                </a:solidFill>
              </a:rPr>
              <a:t>Ashley Gold, Axios (</a:t>
            </a:r>
            <a:r>
              <a:rPr lang="en-US" sz="1900" dirty="0" err="1">
                <a:solidFill>
                  <a:srgbClr val="FFFFFF"/>
                </a:solidFill>
              </a:rPr>
              <a:t>Publiation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  <a:r>
              <a:rPr lang="en-US" sz="1900" dirty="0" err="1">
                <a:solidFill>
                  <a:srgbClr val="FFFFFF"/>
                </a:solidFill>
              </a:rPr>
              <a:t>Date:April</a:t>
            </a:r>
            <a:r>
              <a:rPr lang="en-US" sz="1900" dirty="0">
                <a:solidFill>
                  <a:srgbClr val="FFFFFF"/>
                </a:solidFill>
              </a:rPr>
              <a:t> 3, 2026)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solidFill>
                  <a:srgbClr val="FFFFFF"/>
                </a:solidFill>
              </a:rPr>
              <a:t>Link: https://www.axios.com/2026/04/03/california-national-testing-ground-ai-rules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8BEE9B-A2F4-4BF3-9EAD-16E1A7FC2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774949" y="3510608"/>
            <a:ext cx="384048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25791"/>
    </mc:Choice>
    <mc:Fallback xmlns="">
      <p:transition spd="slow" advTm="2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49C117F-F390-437B-ADB0-57E87EFF3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2700" y="0"/>
            <a:ext cx="9173369" cy="6856214"/>
            <a:chOff x="-16934" y="0"/>
            <a:chExt cx="12231160" cy="68562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EF42F8-2417-49A6-95CE-DE9503B0A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6F623B-2003-4AED-B02F-541A150EC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D11837A-4F3D-419F-ACE2-E80B1EA28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9411D1A-7E2C-4A36-BE32-BF7A8E130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742BC3-654B-4E41-9A6A-73A42E47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019299" y="3522131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401732C-37EE-4B98-A709-9530173F3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4E48C8-2A00-4C54-BC9C-B18EE49E9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9172471" cy="6856214"/>
            <a:chOff x="-15736" y="0"/>
            <a:chExt cx="12229962" cy="685621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E0A0544-8F52-43F0-AC3E-DF683908B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4057D3-A680-4443-9E51-ED920A691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F6853A4-7B38-4FDE-B024-AE8BA71E7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6ADF4DB-4290-4441-8F8E-04152FE60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146" y="982132"/>
            <a:ext cx="3070512" cy="28238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>
                <a:solidFill>
                  <a:srgbClr val="262626"/>
                </a:solidFill>
              </a:rPr>
              <a:t>Screenshot of Article Headline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1" y="1644585"/>
            <a:ext cx="4102099" cy="3568826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363"/>
    </mc:Choice>
    <mc:Fallback xmlns="">
      <p:transition spd="slow" advTm="2136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EB8E3BF-F464-4900-8994-851061A9A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lowing circuit board">
            <a:extLst>
              <a:ext uri="{FF2B5EF4-FFF2-40B4-BE49-F238E27FC236}">
                <a16:creationId xmlns:a16="http://schemas.microsoft.com/office/drawing/2014/main" id="{AB77C2C7-189D-7964-761F-7AC1895DD0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4805" r="6193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Main Findings and Arguments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0602D6-3A81-42F8-AE67-1BAAFC967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43000" y="2421466"/>
            <a:ext cx="6858000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20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rgbClr val="FFFFFF"/>
                </a:solidFill>
              </a:rPr>
              <a:t>- California is taking proactive steps to regulate AI across various sectors, including AI procurement and its impact on minors.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rgbClr val="FFFFFF"/>
                </a:solidFill>
              </a:rPr>
              <a:t>- The state's regulations are likely to set a de facto national standard due to California's influence over U.S. tech policy.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rgbClr val="FFFFFF"/>
                </a:solidFill>
              </a:rPr>
              <a:t>- Growing public concerns about the risks of AI, such as biases and misuse, are driving these regulatory efforts.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rgbClr val="FFFFFF"/>
                </a:solidFill>
              </a:rPr>
              <a:t>- California aims to balance AI innovation with societal protection, ensuring ethical deployment of AI technologies.</a:t>
            </a:r>
          </a:p>
          <a:p>
            <a:pPr>
              <a:lnSpc>
                <a:spcPct val="90000"/>
              </a:lnSpc>
            </a:pPr>
            <a:endParaRPr lang="en-US" sz="200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50534"/>
    </mc:Choice>
    <mc:Fallback xmlns="">
      <p:transition spd="slow" advTm="5053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EB8E3BF-F464-4900-8994-851061A9A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robot using a laptop sitting on a blue chair">
            <a:extLst>
              <a:ext uri="{FF2B5EF4-FFF2-40B4-BE49-F238E27FC236}">
                <a16:creationId xmlns:a16="http://schemas.microsoft.com/office/drawing/2014/main" id="{1C0C8D91-F135-2FE5-E2CC-1DDE52AC73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25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Broader Implications for Society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0602D6-3A81-42F8-AE67-1BAAFC967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43000" y="2421466"/>
            <a:ext cx="6858000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20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</a:rPr>
              <a:t>- AI Safety: Ensuring AI systems do not introduce new societal risks, such as bias or misuse.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</a:rPr>
              <a:t>- Ethical Concerns: Balancing technological innovation with individual rights, particularly around data privacy.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</a:rPr>
              <a:t>- AI's Impact on Children: Protecting minors from AI-driven manipulation and privacy risks in digital spaces.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</a:rPr>
              <a:t>- California is positioning itself as a leader in ensuring that AI technologies are ethically deployed.</a:t>
            </a:r>
          </a:p>
          <a:p>
            <a:pPr>
              <a:lnSpc>
                <a:spcPct val="90000"/>
              </a:lnSpc>
            </a:pPr>
            <a:endParaRPr lang="en-US" sz="2000" dirty="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3445"/>
    </mc:Choice>
    <mc:Fallback xmlns="">
      <p:transition spd="slow" advTm="4344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B78BE18-6882-4FAA-BC8C-CA216E963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34F12D-8C0F-46CA-9F4A-D56193C37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603" y="488137"/>
            <a:ext cx="8420582" cy="588329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14300" dist="127000" dir="48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pic>
        <p:nvPicPr>
          <p:cNvPr id="5" name="Picture 4" descr="Sunset silhouette of scaffolding in construction site">
            <a:extLst>
              <a:ext uri="{FF2B5EF4-FFF2-40B4-BE49-F238E27FC236}">
                <a16:creationId xmlns:a16="http://schemas.microsoft.com/office/drawing/2014/main" id="{7996B0F0-DC3A-98BB-11A5-FFAF2DCAB8A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 l="4159" r="305" b="1"/>
          <a:stretch>
            <a:fillRect/>
          </a:stretch>
        </p:blipFill>
        <p:spPr>
          <a:xfrm>
            <a:off x="364603" y="486568"/>
            <a:ext cx="8420582" cy="588329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3838012-22B6-4303-8F29-04E1419B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609600"/>
            <a:ext cx="8229600" cy="5638800"/>
          </a:xfrm>
          <a:prstGeom prst="rect">
            <a:avLst/>
          </a:prstGeom>
          <a:noFill/>
          <a:ln w="15875" cap="flat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Relevance to the Construction Industry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061FF5-9F81-427C-8DA5-398939551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4263" y="2421466"/>
            <a:ext cx="7055473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3F5A17-2CE9-4ADD-9FAF-C1A0BB39C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3716" y="3128956"/>
            <a:ext cx="9176000" cy="658368"/>
            <a:chOff x="-18288" y="3128956"/>
            <a:chExt cx="12234672" cy="658368"/>
          </a:xfrm>
        </p:grpSpPr>
        <p:sp useBgFill="1">
          <p:nvSpPr>
            <p:cNvPr id="25" name="Rounded Rectangle 20">
              <a:extLst>
                <a:ext uri="{FF2B5EF4-FFF2-40B4-BE49-F238E27FC236}">
                  <a16:creationId xmlns:a16="http://schemas.microsoft.com/office/drawing/2014/main" id="{4A88F887-B43E-4CD1-BCE2-739013C68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C9D3412-AB4A-4E20-9A79-B2C80D198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7" name="Rounded Rectangle 22">
              <a:extLst>
                <a:ext uri="{FF2B5EF4-FFF2-40B4-BE49-F238E27FC236}">
                  <a16:creationId xmlns:a16="http://schemas.microsoft.com/office/drawing/2014/main" id="{A1D7D010-E182-46E6-9264-B39552853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4783A7B-2E08-42E4-87EC-EE59B873D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19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</a:rPr>
              <a:t>- AI in Construction: Predictive analytics, AI-powered safety monitoring, and Building Information Modeling (BIM) are transforming construction processes.</a:t>
            </a: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</a:rPr>
              <a:t>- Impact of California's Regulations: Construction firms in the AEC sector must adapt to meet evolving AI safety standards and ensure ethical AI use.</a:t>
            </a: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</a:rPr>
              <a:t>- California's AI rules could set a national standard for how AI is used in construction management, ensuring safety, privacy, and quality.</a:t>
            </a:r>
          </a:p>
          <a:p>
            <a:pPr>
              <a:lnSpc>
                <a:spcPct val="90000"/>
              </a:lnSpc>
            </a:pPr>
            <a:endParaRPr lang="en-US" sz="190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63860"/>
    </mc:Choice>
    <mc:Fallback xmlns="">
      <p:transition spd="slow" advTm="63860"/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</TotalTime>
  <Words>289</Words>
  <Application>Microsoft Office PowerPoint</Application>
  <PresentationFormat>On-screen Show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Organic</vt:lpstr>
      <vt:lpstr>California Cements Its Role as the National Testing Ground for AI Rules</vt:lpstr>
      <vt:lpstr>Screenshot of Article Headline</vt:lpstr>
      <vt:lpstr>Main Findings and Arguments</vt:lpstr>
      <vt:lpstr>Broader Implications for Society</vt:lpstr>
      <vt:lpstr>Relevance to the Construction Industry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Meriya Budhathoki</cp:lastModifiedBy>
  <cp:revision>2</cp:revision>
  <dcterms:created xsi:type="dcterms:W3CDTF">2013-01-27T09:14:16Z</dcterms:created>
  <dcterms:modified xsi:type="dcterms:W3CDTF">2026-04-11T13:55:55Z</dcterms:modified>
  <cp:category/>
</cp:coreProperties>
</file>