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A6AFCC-AD0E-49F5-8C27-D925B12FA111}" v="1" dt="2026-02-14T15:36:32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iya Budhathoki" userId="059dd2c3a8161ba2" providerId="LiveId" clId="{B5166E12-B5F1-4FDE-A0E5-6F4F0260F79B}"/>
    <pc:docChg chg="custSel modSld">
      <pc:chgData name="Meriya Budhathoki" userId="059dd2c3a8161ba2" providerId="LiveId" clId="{B5166E12-B5F1-4FDE-A0E5-6F4F0260F79B}" dt="2026-02-14T16:53:04.887" v="1" actId="21"/>
      <pc:docMkLst>
        <pc:docMk/>
      </pc:docMkLst>
      <pc:sldChg chg="addSp delSp modSp mod delAnim">
        <pc:chgData name="Meriya Budhathoki" userId="059dd2c3a8161ba2" providerId="LiveId" clId="{B5166E12-B5F1-4FDE-A0E5-6F4F0260F79B}" dt="2026-02-14T16:53:04.887" v="1" actId="21"/>
        <pc:sldMkLst>
          <pc:docMk/>
          <pc:sldMk cId="0" sldId="256"/>
        </pc:sldMkLst>
        <pc:picChg chg="add del mod">
          <ac:chgData name="Meriya Budhathoki" userId="059dd2c3a8161ba2" providerId="LiveId" clId="{B5166E12-B5F1-4FDE-A0E5-6F4F0260F79B}" dt="2026-02-14T16:53:04.887" v="1" actId="21"/>
          <ac:picMkLst>
            <pc:docMk/>
            <pc:sldMk cId="0" sldId="256"/>
            <ac:picMk id="2" creationId="{987D2437-55B3-E73F-0A19-CAF8905F2CA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C922B-3C73-463B-9CB4-D551FE6BED8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3A78DC-BEC6-4D4E-9A91-2CF395883720}">
      <dgm:prSet/>
      <dgm:spPr/>
      <dgm:t>
        <a:bodyPr/>
        <a:lstStyle/>
        <a:p>
          <a:pPr>
            <a:defRPr cap="all"/>
          </a:pPr>
          <a:r>
            <a:rPr lang="en-US" b="1"/>
            <a:t>AI in Construction Engineering &amp; Management</a:t>
          </a:r>
          <a:endParaRPr lang="en-US"/>
        </a:p>
      </dgm:t>
    </dgm:pt>
    <dgm:pt modelId="{9DD1FFA7-E467-4DF9-96DC-DACF53703B03}" type="parTrans" cxnId="{AE16216E-7CC0-4793-A83E-953D1CB9AD3B}">
      <dgm:prSet/>
      <dgm:spPr/>
      <dgm:t>
        <a:bodyPr/>
        <a:lstStyle/>
        <a:p>
          <a:endParaRPr lang="en-US"/>
        </a:p>
      </dgm:t>
    </dgm:pt>
    <dgm:pt modelId="{71B16788-450E-418C-917E-0A4FE7DB1C08}" type="sibTrans" cxnId="{AE16216E-7CC0-4793-A83E-953D1CB9AD3B}">
      <dgm:prSet/>
      <dgm:spPr/>
      <dgm:t>
        <a:bodyPr/>
        <a:lstStyle/>
        <a:p>
          <a:endParaRPr lang="en-US"/>
        </a:p>
      </dgm:t>
    </dgm:pt>
    <dgm:pt modelId="{D8C669B9-F032-43F8-B605-C5F7C84EA518}">
      <dgm:prSet/>
      <dgm:spPr/>
      <dgm:t>
        <a:bodyPr/>
        <a:lstStyle/>
        <a:p>
          <a:pPr>
            <a:defRPr cap="all"/>
          </a:pPr>
          <a:r>
            <a:rPr lang="en-US"/>
            <a:t>Based on: Pan &amp; Zhang (2021) — Automation in Construction (Article 103517)</a:t>
          </a:r>
        </a:p>
      </dgm:t>
    </dgm:pt>
    <dgm:pt modelId="{FCE07FBD-31AB-40BC-A63F-1BE545B0935F}" type="parTrans" cxnId="{997EFF9F-75D5-402F-A0A1-775B488EDA10}">
      <dgm:prSet/>
      <dgm:spPr/>
      <dgm:t>
        <a:bodyPr/>
        <a:lstStyle/>
        <a:p>
          <a:endParaRPr lang="en-US"/>
        </a:p>
      </dgm:t>
    </dgm:pt>
    <dgm:pt modelId="{604D1C00-C410-4CB7-BC96-5297E4602799}" type="sibTrans" cxnId="{997EFF9F-75D5-402F-A0A1-775B488EDA10}">
      <dgm:prSet/>
      <dgm:spPr/>
      <dgm:t>
        <a:bodyPr/>
        <a:lstStyle/>
        <a:p>
          <a:endParaRPr lang="en-US"/>
        </a:p>
      </dgm:t>
    </dgm:pt>
    <dgm:pt modelId="{896A5FA8-96DA-49CD-ABD5-797712D29C19}" type="pres">
      <dgm:prSet presAssocID="{9EFC922B-3C73-463B-9CB4-D551FE6BED82}" presName="linear" presStyleCnt="0">
        <dgm:presLayoutVars>
          <dgm:animLvl val="lvl"/>
          <dgm:resizeHandles val="exact"/>
        </dgm:presLayoutVars>
      </dgm:prSet>
      <dgm:spPr/>
    </dgm:pt>
    <dgm:pt modelId="{3CD19340-C764-4428-973D-19C3696BC08B}" type="pres">
      <dgm:prSet presAssocID="{4D3A78DC-BEC6-4D4E-9A91-2CF3958837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D28965-F37D-4BB7-A457-B418824FE618}" type="pres">
      <dgm:prSet presAssocID="{71B16788-450E-418C-917E-0A4FE7DB1C08}" presName="spacer" presStyleCnt="0"/>
      <dgm:spPr/>
    </dgm:pt>
    <dgm:pt modelId="{8BDFA330-F5E4-438B-A2FB-C05C8F2AFAD0}" type="pres">
      <dgm:prSet presAssocID="{D8C669B9-F032-43F8-B605-C5F7C84EA51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16216E-7CC0-4793-A83E-953D1CB9AD3B}" srcId="{9EFC922B-3C73-463B-9CB4-D551FE6BED82}" destId="{4D3A78DC-BEC6-4D4E-9A91-2CF395883720}" srcOrd="0" destOrd="0" parTransId="{9DD1FFA7-E467-4DF9-96DC-DACF53703B03}" sibTransId="{71B16788-450E-418C-917E-0A4FE7DB1C08}"/>
    <dgm:cxn modelId="{D0403590-73DB-4C0E-8DE0-A8F31418F201}" type="presOf" srcId="{9EFC922B-3C73-463B-9CB4-D551FE6BED82}" destId="{896A5FA8-96DA-49CD-ABD5-797712D29C19}" srcOrd="0" destOrd="0" presId="urn:microsoft.com/office/officeart/2005/8/layout/vList2"/>
    <dgm:cxn modelId="{513DC696-77D0-4535-9B87-CF96C0DD26D2}" type="presOf" srcId="{4D3A78DC-BEC6-4D4E-9A91-2CF395883720}" destId="{3CD19340-C764-4428-973D-19C3696BC08B}" srcOrd="0" destOrd="0" presId="urn:microsoft.com/office/officeart/2005/8/layout/vList2"/>
    <dgm:cxn modelId="{997EFF9F-75D5-402F-A0A1-775B488EDA10}" srcId="{9EFC922B-3C73-463B-9CB4-D551FE6BED82}" destId="{D8C669B9-F032-43F8-B605-C5F7C84EA518}" srcOrd="1" destOrd="0" parTransId="{FCE07FBD-31AB-40BC-A63F-1BE545B0935F}" sibTransId="{604D1C00-C410-4CB7-BC96-5297E4602799}"/>
    <dgm:cxn modelId="{504345D2-67DC-45A8-9AF6-2CA3AAA8E51C}" type="presOf" srcId="{D8C669B9-F032-43F8-B605-C5F7C84EA518}" destId="{8BDFA330-F5E4-438B-A2FB-C05C8F2AFAD0}" srcOrd="0" destOrd="0" presId="urn:microsoft.com/office/officeart/2005/8/layout/vList2"/>
    <dgm:cxn modelId="{E3CAA669-E4D7-436C-A655-BB51F1606058}" type="presParOf" srcId="{896A5FA8-96DA-49CD-ABD5-797712D29C19}" destId="{3CD19340-C764-4428-973D-19C3696BC08B}" srcOrd="0" destOrd="0" presId="urn:microsoft.com/office/officeart/2005/8/layout/vList2"/>
    <dgm:cxn modelId="{8D0B804D-5302-438A-BEE0-219F0C99064B}" type="presParOf" srcId="{896A5FA8-96DA-49CD-ABD5-797712D29C19}" destId="{64D28965-F37D-4BB7-A457-B418824FE618}" srcOrd="1" destOrd="0" presId="urn:microsoft.com/office/officeart/2005/8/layout/vList2"/>
    <dgm:cxn modelId="{27ADD2A6-309F-442E-974E-D4F5A55CA888}" type="presParOf" srcId="{896A5FA8-96DA-49CD-ABD5-797712D29C19}" destId="{8BDFA330-F5E4-438B-A2FB-C05C8F2AFAD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B6EF7C-D891-4DAB-86D4-2584CCC8C5E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295F1B0-7543-49EB-9F51-4854A6359697}">
      <dgm:prSet/>
      <dgm:spPr/>
      <dgm:t>
        <a:bodyPr/>
        <a:lstStyle/>
        <a:p>
          <a:r>
            <a:rPr lang="en-US"/>
            <a:t>Title: Roles of artificial intelligence in construction engineering and management: A critical review and future trends</a:t>
          </a:r>
        </a:p>
      </dgm:t>
    </dgm:pt>
    <dgm:pt modelId="{611D6AEB-E555-49BA-999B-84C230D4F61F}" type="parTrans" cxnId="{C9125F32-A858-4FA2-AB5E-E645E0556644}">
      <dgm:prSet/>
      <dgm:spPr/>
      <dgm:t>
        <a:bodyPr/>
        <a:lstStyle/>
        <a:p>
          <a:endParaRPr lang="en-US"/>
        </a:p>
      </dgm:t>
    </dgm:pt>
    <dgm:pt modelId="{415F7E03-9E90-49ED-842D-6AB74C1B7F1E}" type="sibTrans" cxnId="{C9125F32-A858-4FA2-AB5E-E645E0556644}">
      <dgm:prSet/>
      <dgm:spPr/>
      <dgm:t>
        <a:bodyPr/>
        <a:lstStyle/>
        <a:p>
          <a:endParaRPr lang="en-US"/>
        </a:p>
      </dgm:t>
    </dgm:pt>
    <dgm:pt modelId="{97C5F9DE-77F5-4064-8C1F-382879725560}">
      <dgm:prSet/>
      <dgm:spPr/>
      <dgm:t>
        <a:bodyPr/>
        <a:lstStyle/>
        <a:p>
          <a:r>
            <a:rPr lang="en-US"/>
            <a:t>Authors: Yue Pan; Limao Zhang</a:t>
          </a:r>
        </a:p>
      </dgm:t>
    </dgm:pt>
    <dgm:pt modelId="{31A4FEA2-B5BD-4A69-B08D-85C3B8E720F4}" type="parTrans" cxnId="{01A18EEF-7404-4FCE-AA05-542E5755F6C5}">
      <dgm:prSet/>
      <dgm:spPr/>
      <dgm:t>
        <a:bodyPr/>
        <a:lstStyle/>
        <a:p>
          <a:endParaRPr lang="en-US"/>
        </a:p>
      </dgm:t>
    </dgm:pt>
    <dgm:pt modelId="{7F9593F2-5563-44A0-AB57-42EC55CDA1B0}" type="sibTrans" cxnId="{01A18EEF-7404-4FCE-AA05-542E5755F6C5}">
      <dgm:prSet/>
      <dgm:spPr/>
      <dgm:t>
        <a:bodyPr/>
        <a:lstStyle/>
        <a:p>
          <a:endParaRPr lang="en-US"/>
        </a:p>
      </dgm:t>
    </dgm:pt>
    <dgm:pt modelId="{5AB8B3EF-2AA5-43DC-86F5-43F2B2EE501F}">
      <dgm:prSet/>
      <dgm:spPr/>
      <dgm:t>
        <a:bodyPr/>
        <a:lstStyle/>
        <a:p>
          <a:r>
            <a:rPr lang="en-US"/>
            <a:t>Journal: Automation in Construction (Elsevier)</a:t>
          </a:r>
        </a:p>
      </dgm:t>
    </dgm:pt>
    <dgm:pt modelId="{7B6E9489-F8A4-4C8D-9B8B-7FCC8900A8C2}" type="parTrans" cxnId="{AF5D3095-90A8-4090-918F-08C8B7A42306}">
      <dgm:prSet/>
      <dgm:spPr/>
      <dgm:t>
        <a:bodyPr/>
        <a:lstStyle/>
        <a:p>
          <a:endParaRPr lang="en-US"/>
        </a:p>
      </dgm:t>
    </dgm:pt>
    <dgm:pt modelId="{30778135-37FE-4BB0-A25E-0BD755F04416}" type="sibTrans" cxnId="{AF5D3095-90A8-4090-918F-08C8B7A42306}">
      <dgm:prSet/>
      <dgm:spPr/>
      <dgm:t>
        <a:bodyPr/>
        <a:lstStyle/>
        <a:p>
          <a:endParaRPr lang="en-US"/>
        </a:p>
      </dgm:t>
    </dgm:pt>
    <dgm:pt modelId="{4DC844E7-4D14-4693-B0E3-BF2D4300C518}">
      <dgm:prSet/>
      <dgm:spPr/>
      <dgm:t>
        <a:bodyPr/>
        <a:lstStyle/>
        <a:p>
          <a:r>
            <a:rPr lang="en-US"/>
            <a:t>Volume/Issue: Volume 122 (February 2021)</a:t>
          </a:r>
        </a:p>
      </dgm:t>
    </dgm:pt>
    <dgm:pt modelId="{B58F7530-89A9-4E79-8B4F-B5E5AE0807A3}" type="parTrans" cxnId="{BA6D73E8-CF21-4BA3-BF1B-DA1B1375EAC6}">
      <dgm:prSet/>
      <dgm:spPr/>
      <dgm:t>
        <a:bodyPr/>
        <a:lstStyle/>
        <a:p>
          <a:endParaRPr lang="en-US"/>
        </a:p>
      </dgm:t>
    </dgm:pt>
    <dgm:pt modelId="{E8A925D4-D716-4198-90AE-1FFA15102EF8}" type="sibTrans" cxnId="{BA6D73E8-CF21-4BA3-BF1B-DA1B1375EAC6}">
      <dgm:prSet/>
      <dgm:spPr/>
      <dgm:t>
        <a:bodyPr/>
        <a:lstStyle/>
        <a:p>
          <a:endParaRPr lang="en-US"/>
        </a:p>
      </dgm:t>
    </dgm:pt>
    <dgm:pt modelId="{98C50D4F-CA21-4EF1-AFF9-E3A48AD07235}">
      <dgm:prSet/>
      <dgm:spPr/>
      <dgm:t>
        <a:bodyPr/>
        <a:lstStyle/>
        <a:p>
          <a:r>
            <a:rPr lang="en-US"/>
            <a:t>Article number: 103517</a:t>
          </a:r>
        </a:p>
      </dgm:t>
    </dgm:pt>
    <dgm:pt modelId="{ED7A4D2B-96AF-44B2-8FD5-3B3F4692B249}" type="parTrans" cxnId="{2E1D7E34-BE7D-4C4C-AF2C-54EF9528A682}">
      <dgm:prSet/>
      <dgm:spPr/>
      <dgm:t>
        <a:bodyPr/>
        <a:lstStyle/>
        <a:p>
          <a:endParaRPr lang="en-US"/>
        </a:p>
      </dgm:t>
    </dgm:pt>
    <dgm:pt modelId="{C41F9F9A-3EBD-407E-9F25-FEDC5996775F}" type="sibTrans" cxnId="{2E1D7E34-BE7D-4C4C-AF2C-54EF9528A682}">
      <dgm:prSet/>
      <dgm:spPr/>
      <dgm:t>
        <a:bodyPr/>
        <a:lstStyle/>
        <a:p>
          <a:endParaRPr lang="en-US"/>
        </a:p>
      </dgm:t>
    </dgm:pt>
    <dgm:pt modelId="{D232D962-901C-4B44-AAF9-BD0C47836644}">
      <dgm:prSet/>
      <dgm:spPr/>
      <dgm:t>
        <a:bodyPr/>
        <a:lstStyle/>
        <a:p>
          <a:r>
            <a:rPr lang="en-US"/>
            <a:t>Available online / Version of record: 17 December 2020</a:t>
          </a:r>
        </a:p>
      </dgm:t>
    </dgm:pt>
    <dgm:pt modelId="{6E9DFA48-C60D-4FC9-B08A-B99212B93E16}" type="parTrans" cxnId="{786CA96C-EC72-4BFB-9AD8-5775E2F4491F}">
      <dgm:prSet/>
      <dgm:spPr/>
      <dgm:t>
        <a:bodyPr/>
        <a:lstStyle/>
        <a:p>
          <a:endParaRPr lang="en-US"/>
        </a:p>
      </dgm:t>
    </dgm:pt>
    <dgm:pt modelId="{FD56CDAA-9C61-45D9-BC15-4E34FE1DFB5F}" type="sibTrans" cxnId="{786CA96C-EC72-4BFB-9AD8-5775E2F4491F}">
      <dgm:prSet/>
      <dgm:spPr/>
      <dgm:t>
        <a:bodyPr/>
        <a:lstStyle/>
        <a:p>
          <a:endParaRPr lang="en-US"/>
        </a:p>
      </dgm:t>
    </dgm:pt>
    <dgm:pt modelId="{9B7F998F-E1AF-49DA-969B-58A359197475}">
      <dgm:prSet/>
      <dgm:spPr/>
      <dgm:t>
        <a:bodyPr/>
        <a:lstStyle/>
        <a:p>
          <a:r>
            <a:rPr lang="en-US"/>
            <a:t>DOI link: https://doi.org/10.1016/j.autcon.2020.103517</a:t>
          </a:r>
        </a:p>
      </dgm:t>
    </dgm:pt>
    <dgm:pt modelId="{67FF109C-9328-4304-ABDA-A21E92AD7942}" type="parTrans" cxnId="{B57F2BD0-2482-4DA7-BA8C-FF75DABF0384}">
      <dgm:prSet/>
      <dgm:spPr/>
      <dgm:t>
        <a:bodyPr/>
        <a:lstStyle/>
        <a:p>
          <a:endParaRPr lang="en-US"/>
        </a:p>
      </dgm:t>
    </dgm:pt>
    <dgm:pt modelId="{AD1AAAB7-08FA-4C50-B3A3-7782D760E67A}" type="sibTrans" cxnId="{B57F2BD0-2482-4DA7-BA8C-FF75DABF0384}">
      <dgm:prSet/>
      <dgm:spPr/>
      <dgm:t>
        <a:bodyPr/>
        <a:lstStyle/>
        <a:p>
          <a:endParaRPr lang="en-US"/>
        </a:p>
      </dgm:t>
    </dgm:pt>
    <dgm:pt modelId="{42445858-991E-4553-B969-6773053F48E1}" type="pres">
      <dgm:prSet presAssocID="{CCB6EF7C-D891-4DAB-86D4-2584CCC8C5E2}" presName="linear" presStyleCnt="0">
        <dgm:presLayoutVars>
          <dgm:animLvl val="lvl"/>
          <dgm:resizeHandles val="exact"/>
        </dgm:presLayoutVars>
      </dgm:prSet>
      <dgm:spPr/>
    </dgm:pt>
    <dgm:pt modelId="{8FAAD179-67D9-4747-AE48-685645557287}" type="pres">
      <dgm:prSet presAssocID="{4295F1B0-7543-49EB-9F51-4854A635969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B048698-5CCE-48D3-90FC-094592308ED8}" type="pres">
      <dgm:prSet presAssocID="{415F7E03-9E90-49ED-842D-6AB74C1B7F1E}" presName="spacer" presStyleCnt="0"/>
      <dgm:spPr/>
    </dgm:pt>
    <dgm:pt modelId="{3013828C-1F91-4612-BA91-037E20EFF541}" type="pres">
      <dgm:prSet presAssocID="{97C5F9DE-77F5-4064-8C1F-38287972556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1C07774-FD45-4998-B8C7-5AF8769C202C}" type="pres">
      <dgm:prSet presAssocID="{7F9593F2-5563-44A0-AB57-42EC55CDA1B0}" presName="spacer" presStyleCnt="0"/>
      <dgm:spPr/>
    </dgm:pt>
    <dgm:pt modelId="{FB2D8BB2-44A0-4295-B3A7-4EE81A917802}" type="pres">
      <dgm:prSet presAssocID="{5AB8B3EF-2AA5-43DC-86F5-43F2B2EE501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F4E4DE-FEDE-4AD4-BEA2-DC039912A1AC}" type="pres">
      <dgm:prSet presAssocID="{30778135-37FE-4BB0-A25E-0BD755F04416}" presName="spacer" presStyleCnt="0"/>
      <dgm:spPr/>
    </dgm:pt>
    <dgm:pt modelId="{4BD6AD7F-CCB9-41EA-9A76-E1450D7BF9AB}" type="pres">
      <dgm:prSet presAssocID="{4DC844E7-4D14-4693-B0E3-BF2D4300C51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7A68E89-328E-4887-9ED8-B76254BA596E}" type="pres">
      <dgm:prSet presAssocID="{E8A925D4-D716-4198-90AE-1FFA15102EF8}" presName="spacer" presStyleCnt="0"/>
      <dgm:spPr/>
    </dgm:pt>
    <dgm:pt modelId="{58365E52-3FA3-4834-8053-7E8462BF15F3}" type="pres">
      <dgm:prSet presAssocID="{98C50D4F-CA21-4EF1-AFF9-E3A48AD0723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3F1162E-F165-46B7-9AB1-76651E5AF678}" type="pres">
      <dgm:prSet presAssocID="{C41F9F9A-3EBD-407E-9F25-FEDC5996775F}" presName="spacer" presStyleCnt="0"/>
      <dgm:spPr/>
    </dgm:pt>
    <dgm:pt modelId="{35D96A0A-8A3B-4CAD-B560-F3D3F66F55EF}" type="pres">
      <dgm:prSet presAssocID="{D232D962-901C-4B44-AAF9-BD0C4783664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9EDFB3F-3125-45F4-8DD1-D7510E302648}" type="pres">
      <dgm:prSet presAssocID="{FD56CDAA-9C61-45D9-BC15-4E34FE1DFB5F}" presName="spacer" presStyleCnt="0"/>
      <dgm:spPr/>
    </dgm:pt>
    <dgm:pt modelId="{503249B8-FB08-44F5-BBA8-45AC0F17BBFC}" type="pres">
      <dgm:prSet presAssocID="{9B7F998F-E1AF-49DA-969B-58A35919747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F381B008-7D05-400B-AD7F-E46F619B022D}" type="presOf" srcId="{D232D962-901C-4B44-AAF9-BD0C47836644}" destId="{35D96A0A-8A3B-4CAD-B560-F3D3F66F55EF}" srcOrd="0" destOrd="0" presId="urn:microsoft.com/office/officeart/2005/8/layout/vList2"/>
    <dgm:cxn modelId="{8F2AEA08-FE7C-4379-8497-CD726E58D683}" type="presOf" srcId="{4DC844E7-4D14-4693-B0E3-BF2D4300C518}" destId="{4BD6AD7F-CCB9-41EA-9A76-E1450D7BF9AB}" srcOrd="0" destOrd="0" presId="urn:microsoft.com/office/officeart/2005/8/layout/vList2"/>
    <dgm:cxn modelId="{BF342722-B749-4A01-9C09-9E6E92856745}" type="presOf" srcId="{5AB8B3EF-2AA5-43DC-86F5-43F2B2EE501F}" destId="{FB2D8BB2-44A0-4295-B3A7-4EE81A917802}" srcOrd="0" destOrd="0" presId="urn:microsoft.com/office/officeart/2005/8/layout/vList2"/>
    <dgm:cxn modelId="{C9125F32-A858-4FA2-AB5E-E645E0556644}" srcId="{CCB6EF7C-D891-4DAB-86D4-2584CCC8C5E2}" destId="{4295F1B0-7543-49EB-9F51-4854A6359697}" srcOrd="0" destOrd="0" parTransId="{611D6AEB-E555-49BA-999B-84C230D4F61F}" sibTransId="{415F7E03-9E90-49ED-842D-6AB74C1B7F1E}"/>
    <dgm:cxn modelId="{2E1D7E34-BE7D-4C4C-AF2C-54EF9528A682}" srcId="{CCB6EF7C-D891-4DAB-86D4-2584CCC8C5E2}" destId="{98C50D4F-CA21-4EF1-AFF9-E3A48AD07235}" srcOrd="4" destOrd="0" parTransId="{ED7A4D2B-96AF-44B2-8FD5-3B3F4692B249}" sibTransId="{C41F9F9A-3EBD-407E-9F25-FEDC5996775F}"/>
    <dgm:cxn modelId="{786CA96C-EC72-4BFB-9AD8-5775E2F4491F}" srcId="{CCB6EF7C-D891-4DAB-86D4-2584CCC8C5E2}" destId="{D232D962-901C-4B44-AAF9-BD0C47836644}" srcOrd="5" destOrd="0" parTransId="{6E9DFA48-C60D-4FC9-B08A-B99212B93E16}" sibTransId="{FD56CDAA-9C61-45D9-BC15-4E34FE1DFB5F}"/>
    <dgm:cxn modelId="{F6B1C692-441C-4B60-932C-5559E927817F}" type="presOf" srcId="{4295F1B0-7543-49EB-9F51-4854A6359697}" destId="{8FAAD179-67D9-4747-AE48-685645557287}" srcOrd="0" destOrd="0" presId="urn:microsoft.com/office/officeart/2005/8/layout/vList2"/>
    <dgm:cxn modelId="{AF5D3095-90A8-4090-918F-08C8B7A42306}" srcId="{CCB6EF7C-D891-4DAB-86D4-2584CCC8C5E2}" destId="{5AB8B3EF-2AA5-43DC-86F5-43F2B2EE501F}" srcOrd="2" destOrd="0" parTransId="{7B6E9489-F8A4-4C8D-9B8B-7FCC8900A8C2}" sibTransId="{30778135-37FE-4BB0-A25E-0BD755F04416}"/>
    <dgm:cxn modelId="{8E2FD297-B0E5-4EDF-9078-F5CFE868073C}" type="presOf" srcId="{98C50D4F-CA21-4EF1-AFF9-E3A48AD07235}" destId="{58365E52-3FA3-4834-8053-7E8462BF15F3}" srcOrd="0" destOrd="0" presId="urn:microsoft.com/office/officeart/2005/8/layout/vList2"/>
    <dgm:cxn modelId="{F8F9C0A2-3B9E-493D-B74B-F91CF5CA3965}" type="presOf" srcId="{97C5F9DE-77F5-4064-8C1F-382879725560}" destId="{3013828C-1F91-4612-BA91-037E20EFF541}" srcOrd="0" destOrd="0" presId="urn:microsoft.com/office/officeart/2005/8/layout/vList2"/>
    <dgm:cxn modelId="{A8A732AD-39B8-4FD6-86C8-1E4B1D695ED0}" type="presOf" srcId="{9B7F998F-E1AF-49DA-969B-58A359197475}" destId="{503249B8-FB08-44F5-BBA8-45AC0F17BBFC}" srcOrd="0" destOrd="0" presId="urn:microsoft.com/office/officeart/2005/8/layout/vList2"/>
    <dgm:cxn modelId="{D80352C5-3347-4B41-90BF-7CFD018BD1D3}" type="presOf" srcId="{CCB6EF7C-D891-4DAB-86D4-2584CCC8C5E2}" destId="{42445858-991E-4553-B969-6773053F48E1}" srcOrd="0" destOrd="0" presId="urn:microsoft.com/office/officeart/2005/8/layout/vList2"/>
    <dgm:cxn modelId="{B57F2BD0-2482-4DA7-BA8C-FF75DABF0384}" srcId="{CCB6EF7C-D891-4DAB-86D4-2584CCC8C5E2}" destId="{9B7F998F-E1AF-49DA-969B-58A359197475}" srcOrd="6" destOrd="0" parTransId="{67FF109C-9328-4304-ABDA-A21E92AD7942}" sibTransId="{AD1AAAB7-08FA-4C50-B3A3-7782D760E67A}"/>
    <dgm:cxn modelId="{BA6D73E8-CF21-4BA3-BF1B-DA1B1375EAC6}" srcId="{CCB6EF7C-D891-4DAB-86D4-2584CCC8C5E2}" destId="{4DC844E7-4D14-4693-B0E3-BF2D4300C518}" srcOrd="3" destOrd="0" parTransId="{B58F7530-89A9-4E79-8B4F-B5E5AE0807A3}" sibTransId="{E8A925D4-D716-4198-90AE-1FFA15102EF8}"/>
    <dgm:cxn modelId="{01A18EEF-7404-4FCE-AA05-542E5755F6C5}" srcId="{CCB6EF7C-D891-4DAB-86D4-2584CCC8C5E2}" destId="{97C5F9DE-77F5-4064-8C1F-382879725560}" srcOrd="1" destOrd="0" parTransId="{31A4FEA2-B5BD-4A69-B08D-85C3B8E720F4}" sibTransId="{7F9593F2-5563-44A0-AB57-42EC55CDA1B0}"/>
    <dgm:cxn modelId="{E9E66726-EE19-4F30-9556-B1ED217EA165}" type="presParOf" srcId="{42445858-991E-4553-B969-6773053F48E1}" destId="{8FAAD179-67D9-4747-AE48-685645557287}" srcOrd="0" destOrd="0" presId="urn:microsoft.com/office/officeart/2005/8/layout/vList2"/>
    <dgm:cxn modelId="{8D4C3C9D-2D22-4074-9356-6D86772ADF8F}" type="presParOf" srcId="{42445858-991E-4553-B969-6773053F48E1}" destId="{3B048698-5CCE-48D3-90FC-094592308ED8}" srcOrd="1" destOrd="0" presId="urn:microsoft.com/office/officeart/2005/8/layout/vList2"/>
    <dgm:cxn modelId="{04666807-D15D-468B-B9FB-C576FA0EA934}" type="presParOf" srcId="{42445858-991E-4553-B969-6773053F48E1}" destId="{3013828C-1F91-4612-BA91-037E20EFF541}" srcOrd="2" destOrd="0" presId="urn:microsoft.com/office/officeart/2005/8/layout/vList2"/>
    <dgm:cxn modelId="{0E749807-7852-44D1-B9B1-5860ABC937B6}" type="presParOf" srcId="{42445858-991E-4553-B969-6773053F48E1}" destId="{11C07774-FD45-4998-B8C7-5AF8769C202C}" srcOrd="3" destOrd="0" presId="urn:microsoft.com/office/officeart/2005/8/layout/vList2"/>
    <dgm:cxn modelId="{95174C9A-7E4B-47F8-9F2E-58F67F5EDFFF}" type="presParOf" srcId="{42445858-991E-4553-B969-6773053F48E1}" destId="{FB2D8BB2-44A0-4295-B3A7-4EE81A917802}" srcOrd="4" destOrd="0" presId="urn:microsoft.com/office/officeart/2005/8/layout/vList2"/>
    <dgm:cxn modelId="{0DF0409C-964A-4069-A63A-323D6CF2F51A}" type="presParOf" srcId="{42445858-991E-4553-B969-6773053F48E1}" destId="{67F4E4DE-FEDE-4AD4-BEA2-DC039912A1AC}" srcOrd="5" destOrd="0" presId="urn:microsoft.com/office/officeart/2005/8/layout/vList2"/>
    <dgm:cxn modelId="{1DA0DEBE-2628-47B4-AA10-5D3EF8DCD27E}" type="presParOf" srcId="{42445858-991E-4553-B969-6773053F48E1}" destId="{4BD6AD7F-CCB9-41EA-9A76-E1450D7BF9AB}" srcOrd="6" destOrd="0" presId="urn:microsoft.com/office/officeart/2005/8/layout/vList2"/>
    <dgm:cxn modelId="{310A08CD-97A3-4707-9647-9EA15477150D}" type="presParOf" srcId="{42445858-991E-4553-B969-6773053F48E1}" destId="{37A68E89-328E-4887-9ED8-B76254BA596E}" srcOrd="7" destOrd="0" presId="urn:microsoft.com/office/officeart/2005/8/layout/vList2"/>
    <dgm:cxn modelId="{13E46265-98C2-4B36-8A4A-423D30BBC138}" type="presParOf" srcId="{42445858-991E-4553-B969-6773053F48E1}" destId="{58365E52-3FA3-4834-8053-7E8462BF15F3}" srcOrd="8" destOrd="0" presId="urn:microsoft.com/office/officeart/2005/8/layout/vList2"/>
    <dgm:cxn modelId="{A4AD4DC7-2A7C-46FE-A7F1-3EFC377B3937}" type="presParOf" srcId="{42445858-991E-4553-B969-6773053F48E1}" destId="{63F1162E-F165-46B7-9AB1-76651E5AF678}" srcOrd="9" destOrd="0" presId="urn:microsoft.com/office/officeart/2005/8/layout/vList2"/>
    <dgm:cxn modelId="{6CA92798-3789-41E8-B9BE-0F75FBED6D60}" type="presParOf" srcId="{42445858-991E-4553-B969-6773053F48E1}" destId="{35D96A0A-8A3B-4CAD-B560-F3D3F66F55EF}" srcOrd="10" destOrd="0" presId="urn:microsoft.com/office/officeart/2005/8/layout/vList2"/>
    <dgm:cxn modelId="{53BD83B5-2BCF-44E1-96A0-87E2A45CB11F}" type="presParOf" srcId="{42445858-991E-4553-B969-6773053F48E1}" destId="{E9EDFB3F-3125-45F4-8DD1-D7510E302648}" srcOrd="11" destOrd="0" presId="urn:microsoft.com/office/officeart/2005/8/layout/vList2"/>
    <dgm:cxn modelId="{67F50619-5B63-4FB6-9D32-EAE21A6B5803}" type="presParOf" srcId="{42445858-991E-4553-B969-6773053F48E1}" destId="{503249B8-FB08-44F5-BBA8-45AC0F17BBF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C188F3-5FBA-4121-AFA9-E0D6B535A89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513371-CF75-4B61-A6F2-C91BD1AADA21}">
      <dgm:prSet/>
      <dgm:spPr/>
      <dgm:t>
        <a:bodyPr/>
        <a:lstStyle/>
        <a:p>
          <a:r>
            <a:rPr lang="en-US"/>
            <a:t>Construction is economically and socially critical, yet faces chronic challenges (low productivity, high safety risk).</a:t>
          </a:r>
        </a:p>
      </dgm:t>
    </dgm:pt>
    <dgm:pt modelId="{0BB87F79-F04F-4E31-AFA5-1C031095F44F}" type="parTrans" cxnId="{94728A3A-6F6E-46FC-BD67-F9A818E94294}">
      <dgm:prSet/>
      <dgm:spPr/>
      <dgm:t>
        <a:bodyPr/>
        <a:lstStyle/>
        <a:p>
          <a:endParaRPr lang="en-US"/>
        </a:p>
      </dgm:t>
    </dgm:pt>
    <dgm:pt modelId="{B45FD5B3-5384-4E42-9CDE-2AE3682F2798}" type="sibTrans" cxnId="{94728A3A-6F6E-46FC-BD67-F9A818E94294}">
      <dgm:prSet/>
      <dgm:spPr/>
      <dgm:t>
        <a:bodyPr/>
        <a:lstStyle/>
        <a:p>
          <a:endParaRPr lang="en-US"/>
        </a:p>
      </dgm:t>
    </dgm:pt>
    <dgm:pt modelId="{943BF1CC-F28E-4D25-9061-903276550A61}">
      <dgm:prSet/>
      <dgm:spPr/>
      <dgm:t>
        <a:bodyPr/>
        <a:lstStyle/>
        <a:p>
          <a:r>
            <a:rPr lang="en-US"/>
            <a:t>AI-enabled forecasting, monitoring, and optimization can reduce waste, improve resource use, and support safer working conditions.</a:t>
          </a:r>
        </a:p>
      </dgm:t>
    </dgm:pt>
    <dgm:pt modelId="{9D6FE155-42D4-4AF2-BE18-3953811D4E9F}" type="parTrans" cxnId="{E2464806-CB59-4B9E-841E-EE363E0F32FD}">
      <dgm:prSet/>
      <dgm:spPr/>
      <dgm:t>
        <a:bodyPr/>
        <a:lstStyle/>
        <a:p>
          <a:endParaRPr lang="en-US"/>
        </a:p>
      </dgm:t>
    </dgm:pt>
    <dgm:pt modelId="{00AFC042-F1E2-4FEA-8E31-5D2A570CCD47}" type="sibTrans" cxnId="{E2464806-CB59-4B9E-841E-EE363E0F32FD}">
      <dgm:prSet/>
      <dgm:spPr/>
      <dgm:t>
        <a:bodyPr/>
        <a:lstStyle/>
        <a:p>
          <a:endParaRPr lang="en-US"/>
        </a:p>
      </dgm:t>
    </dgm:pt>
    <dgm:pt modelId="{559B2209-AB67-46C0-BB99-E6E9161B8DF8}">
      <dgm:prSet/>
      <dgm:spPr/>
      <dgm:t>
        <a:bodyPr/>
        <a:lstStyle/>
        <a:p>
          <a:r>
            <a:rPr lang="en-US"/>
            <a:t>By targeting “laborious, complex, or even dangerous tasks,” AI adoption can improve reliability of infrastructure delivery that communities depend on.</a:t>
          </a:r>
        </a:p>
      </dgm:t>
    </dgm:pt>
    <dgm:pt modelId="{47D79C3A-EFDA-4A41-8C22-2F39FAD96D0C}" type="parTrans" cxnId="{6A123FA8-DE3F-4FF5-9760-32CF699E5050}">
      <dgm:prSet/>
      <dgm:spPr/>
      <dgm:t>
        <a:bodyPr/>
        <a:lstStyle/>
        <a:p>
          <a:endParaRPr lang="en-US"/>
        </a:p>
      </dgm:t>
    </dgm:pt>
    <dgm:pt modelId="{0127C7DC-1045-40FF-92BA-851DA3085398}" type="sibTrans" cxnId="{6A123FA8-DE3F-4FF5-9760-32CF699E5050}">
      <dgm:prSet/>
      <dgm:spPr/>
      <dgm:t>
        <a:bodyPr/>
        <a:lstStyle/>
        <a:p>
          <a:endParaRPr lang="en-US"/>
        </a:p>
      </dgm:t>
    </dgm:pt>
    <dgm:pt modelId="{B5300642-E9E4-4125-AF58-0D646EEC08AF}" type="pres">
      <dgm:prSet presAssocID="{F4C188F3-5FBA-4121-AFA9-E0D6B535A899}" presName="linear" presStyleCnt="0">
        <dgm:presLayoutVars>
          <dgm:animLvl val="lvl"/>
          <dgm:resizeHandles val="exact"/>
        </dgm:presLayoutVars>
      </dgm:prSet>
      <dgm:spPr/>
    </dgm:pt>
    <dgm:pt modelId="{03FC508D-BB48-4440-817C-4BC889A9141E}" type="pres">
      <dgm:prSet presAssocID="{B5513371-CF75-4B61-A6F2-C91BD1AADA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A33EEE-FFD7-4222-948F-80DE10788808}" type="pres">
      <dgm:prSet presAssocID="{B45FD5B3-5384-4E42-9CDE-2AE3682F2798}" presName="spacer" presStyleCnt="0"/>
      <dgm:spPr/>
    </dgm:pt>
    <dgm:pt modelId="{6C3C8A50-CE6C-4BF5-ACF0-13A08053B883}" type="pres">
      <dgm:prSet presAssocID="{943BF1CC-F28E-4D25-9061-903276550A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556399-6B7B-4C9B-B0E2-A4FBA2298B03}" type="pres">
      <dgm:prSet presAssocID="{00AFC042-F1E2-4FEA-8E31-5D2A570CCD47}" presName="spacer" presStyleCnt="0"/>
      <dgm:spPr/>
    </dgm:pt>
    <dgm:pt modelId="{89AF214B-6411-4072-98C8-35A947F597D1}" type="pres">
      <dgm:prSet presAssocID="{559B2209-AB67-46C0-BB99-E6E9161B8DF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2464806-CB59-4B9E-841E-EE363E0F32FD}" srcId="{F4C188F3-5FBA-4121-AFA9-E0D6B535A899}" destId="{943BF1CC-F28E-4D25-9061-903276550A61}" srcOrd="1" destOrd="0" parTransId="{9D6FE155-42D4-4AF2-BE18-3953811D4E9F}" sibTransId="{00AFC042-F1E2-4FEA-8E31-5D2A570CCD47}"/>
    <dgm:cxn modelId="{5ABA0F27-2B70-4832-A448-104FE4CA1D7B}" type="presOf" srcId="{F4C188F3-5FBA-4121-AFA9-E0D6B535A899}" destId="{B5300642-E9E4-4125-AF58-0D646EEC08AF}" srcOrd="0" destOrd="0" presId="urn:microsoft.com/office/officeart/2005/8/layout/vList2"/>
    <dgm:cxn modelId="{94728A3A-6F6E-46FC-BD67-F9A818E94294}" srcId="{F4C188F3-5FBA-4121-AFA9-E0D6B535A899}" destId="{B5513371-CF75-4B61-A6F2-C91BD1AADA21}" srcOrd="0" destOrd="0" parTransId="{0BB87F79-F04F-4E31-AFA5-1C031095F44F}" sibTransId="{B45FD5B3-5384-4E42-9CDE-2AE3682F2798}"/>
    <dgm:cxn modelId="{87BC1084-9C51-49DC-B4FF-12CEFE41FE56}" type="presOf" srcId="{559B2209-AB67-46C0-BB99-E6E9161B8DF8}" destId="{89AF214B-6411-4072-98C8-35A947F597D1}" srcOrd="0" destOrd="0" presId="urn:microsoft.com/office/officeart/2005/8/layout/vList2"/>
    <dgm:cxn modelId="{B345799C-FD0E-4DFE-8A34-B55828D1603F}" type="presOf" srcId="{943BF1CC-F28E-4D25-9061-903276550A61}" destId="{6C3C8A50-CE6C-4BF5-ACF0-13A08053B883}" srcOrd="0" destOrd="0" presId="urn:microsoft.com/office/officeart/2005/8/layout/vList2"/>
    <dgm:cxn modelId="{6A123FA8-DE3F-4FF5-9760-32CF699E5050}" srcId="{F4C188F3-5FBA-4121-AFA9-E0D6B535A899}" destId="{559B2209-AB67-46C0-BB99-E6E9161B8DF8}" srcOrd="2" destOrd="0" parTransId="{47D79C3A-EFDA-4A41-8C22-2F39FAD96D0C}" sibTransId="{0127C7DC-1045-40FF-92BA-851DA3085398}"/>
    <dgm:cxn modelId="{650935B2-5E35-4353-A7F1-AFF67E771484}" type="presOf" srcId="{B5513371-CF75-4B61-A6F2-C91BD1AADA21}" destId="{03FC508D-BB48-4440-817C-4BC889A9141E}" srcOrd="0" destOrd="0" presId="urn:microsoft.com/office/officeart/2005/8/layout/vList2"/>
    <dgm:cxn modelId="{DB80B910-CFFA-42F4-9107-3909A7655E11}" type="presParOf" srcId="{B5300642-E9E4-4125-AF58-0D646EEC08AF}" destId="{03FC508D-BB48-4440-817C-4BC889A9141E}" srcOrd="0" destOrd="0" presId="urn:microsoft.com/office/officeart/2005/8/layout/vList2"/>
    <dgm:cxn modelId="{2D824053-86E6-4407-9EFD-1CBECDEEC742}" type="presParOf" srcId="{B5300642-E9E4-4125-AF58-0D646EEC08AF}" destId="{37A33EEE-FFD7-4222-948F-80DE10788808}" srcOrd="1" destOrd="0" presId="urn:microsoft.com/office/officeart/2005/8/layout/vList2"/>
    <dgm:cxn modelId="{974C726A-CC4C-425A-BBA0-0E6C603A9EB1}" type="presParOf" srcId="{B5300642-E9E4-4125-AF58-0D646EEC08AF}" destId="{6C3C8A50-CE6C-4BF5-ACF0-13A08053B883}" srcOrd="2" destOrd="0" presId="urn:microsoft.com/office/officeart/2005/8/layout/vList2"/>
    <dgm:cxn modelId="{8455CD55-2962-4773-B6DF-EC87C3ADB3FD}" type="presParOf" srcId="{B5300642-E9E4-4125-AF58-0D646EEC08AF}" destId="{2E556399-6B7B-4C9B-B0E2-A4FBA2298B03}" srcOrd="3" destOrd="0" presId="urn:microsoft.com/office/officeart/2005/8/layout/vList2"/>
    <dgm:cxn modelId="{9724C6C8-EF8D-4F85-997C-42979BDCE3BE}" type="presParOf" srcId="{B5300642-E9E4-4125-AF58-0D646EEC08AF}" destId="{89AF214B-6411-4072-98C8-35A947F597D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3F5E47-8F75-44FA-8CE8-F5A742C0BC1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2054EF3-550B-4D15-A343-A327A3065210}">
      <dgm:prSet/>
      <dgm:spPr/>
      <dgm:t>
        <a:bodyPr/>
        <a:lstStyle/>
        <a:p>
          <a:r>
            <a:rPr lang="en-US"/>
            <a:t>Provides an evidence-based map of AI adoption in CEM to help stakeholders prioritize investment and capability-building.</a:t>
          </a:r>
        </a:p>
      </dgm:t>
    </dgm:pt>
    <dgm:pt modelId="{272C3C65-FDCD-480E-9A15-7FF6D70DA44D}" type="parTrans" cxnId="{1FA52541-56C4-419C-B025-6FE411867D2E}">
      <dgm:prSet/>
      <dgm:spPr/>
      <dgm:t>
        <a:bodyPr/>
        <a:lstStyle/>
        <a:p>
          <a:endParaRPr lang="en-US"/>
        </a:p>
      </dgm:t>
    </dgm:pt>
    <dgm:pt modelId="{B4B5182F-9AB2-4C14-A5BA-F8341F753281}" type="sibTrans" cxnId="{1FA52541-56C4-419C-B025-6FE411867D2E}">
      <dgm:prSet/>
      <dgm:spPr/>
      <dgm:t>
        <a:bodyPr/>
        <a:lstStyle/>
        <a:p>
          <a:endParaRPr lang="en-US"/>
        </a:p>
      </dgm:t>
    </dgm:pt>
    <dgm:pt modelId="{1CDA9A9A-10C7-43D9-AE82-C89DF0910F7B}">
      <dgm:prSet/>
      <dgm:spPr/>
      <dgm:t>
        <a:bodyPr/>
        <a:lstStyle/>
        <a:p>
          <a:r>
            <a:rPr lang="en-US"/>
            <a:t>Identifies six forward-looking R&amp;D directions: smart robotics; cloud VR/AR; AIoT; digital twins; 4D printing; blockchains.</a:t>
          </a:r>
        </a:p>
      </dgm:t>
    </dgm:pt>
    <dgm:pt modelId="{49B92DAC-2585-44FA-9580-49302BA9F25E}" type="parTrans" cxnId="{23CFCF08-3B85-4CB6-9294-6CC4C3495A0B}">
      <dgm:prSet/>
      <dgm:spPr/>
      <dgm:t>
        <a:bodyPr/>
        <a:lstStyle/>
        <a:p>
          <a:endParaRPr lang="en-US"/>
        </a:p>
      </dgm:t>
    </dgm:pt>
    <dgm:pt modelId="{AA687932-9AA0-4D32-8C76-307BF34B65FE}" type="sibTrans" cxnId="{23CFCF08-3B85-4CB6-9294-6CC4C3495A0B}">
      <dgm:prSet/>
      <dgm:spPr/>
      <dgm:t>
        <a:bodyPr/>
        <a:lstStyle/>
        <a:p>
          <a:endParaRPr lang="en-US"/>
        </a:p>
      </dgm:t>
    </dgm:pt>
    <dgm:pt modelId="{CCC36CBF-5F5B-46B6-863B-B283BDF7C9F5}">
      <dgm:prSet/>
      <dgm:spPr/>
      <dgm:t>
        <a:bodyPr/>
        <a:lstStyle/>
        <a:p>
          <a:r>
            <a:rPr lang="en-US"/>
            <a:t>Positions these technologies as practical pathways to expand automation and intelligence across design, construction, and O&amp;M.</a:t>
          </a:r>
        </a:p>
      </dgm:t>
    </dgm:pt>
    <dgm:pt modelId="{649A789D-B0A3-4E5A-9188-2686207A9693}" type="parTrans" cxnId="{C3071DBF-361C-453E-80AA-8EDC33EE1F10}">
      <dgm:prSet/>
      <dgm:spPr/>
      <dgm:t>
        <a:bodyPr/>
        <a:lstStyle/>
        <a:p>
          <a:endParaRPr lang="en-US"/>
        </a:p>
      </dgm:t>
    </dgm:pt>
    <dgm:pt modelId="{6AB58FE3-FC89-458E-ADF0-4239F9CD004E}" type="sibTrans" cxnId="{C3071DBF-361C-453E-80AA-8EDC33EE1F10}">
      <dgm:prSet/>
      <dgm:spPr/>
      <dgm:t>
        <a:bodyPr/>
        <a:lstStyle/>
        <a:p>
          <a:endParaRPr lang="en-US"/>
        </a:p>
      </dgm:t>
    </dgm:pt>
    <dgm:pt modelId="{BEC866D3-7FC0-409D-A51C-98193394B900}">
      <dgm:prSet/>
      <dgm:spPr/>
      <dgm:t>
        <a:bodyPr/>
        <a:lstStyle/>
        <a:p>
          <a:r>
            <a:rPr lang="en-US"/>
            <a:t>Overall message: AI is already creating value by enabling more reliable, automated, time-saving, and cost-effective CEM processes.</a:t>
          </a:r>
        </a:p>
      </dgm:t>
    </dgm:pt>
    <dgm:pt modelId="{DEAD707B-30E2-41DE-A58C-E712F3BCA192}" type="parTrans" cxnId="{4457F8AD-6AF9-46E9-96B0-35455180DAB4}">
      <dgm:prSet/>
      <dgm:spPr/>
      <dgm:t>
        <a:bodyPr/>
        <a:lstStyle/>
        <a:p>
          <a:endParaRPr lang="en-US"/>
        </a:p>
      </dgm:t>
    </dgm:pt>
    <dgm:pt modelId="{1734A739-ED7C-4A88-97D4-3DA9FFF40F64}" type="sibTrans" cxnId="{4457F8AD-6AF9-46E9-96B0-35455180DAB4}">
      <dgm:prSet/>
      <dgm:spPr/>
      <dgm:t>
        <a:bodyPr/>
        <a:lstStyle/>
        <a:p>
          <a:endParaRPr lang="en-US"/>
        </a:p>
      </dgm:t>
    </dgm:pt>
    <dgm:pt modelId="{0752FE78-9C7D-4BC6-9DDD-C37E7304A82D}" type="pres">
      <dgm:prSet presAssocID="{CF3F5E47-8F75-44FA-8CE8-F5A742C0BC1B}" presName="linear" presStyleCnt="0">
        <dgm:presLayoutVars>
          <dgm:animLvl val="lvl"/>
          <dgm:resizeHandles val="exact"/>
        </dgm:presLayoutVars>
      </dgm:prSet>
      <dgm:spPr/>
    </dgm:pt>
    <dgm:pt modelId="{CBADB8C6-27AC-4714-A40C-18FCDC2C25E0}" type="pres">
      <dgm:prSet presAssocID="{52054EF3-550B-4D15-A343-A327A30652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BEA784-0964-404B-AA3E-85E398428192}" type="pres">
      <dgm:prSet presAssocID="{B4B5182F-9AB2-4C14-A5BA-F8341F753281}" presName="spacer" presStyleCnt="0"/>
      <dgm:spPr/>
    </dgm:pt>
    <dgm:pt modelId="{620684A4-886D-421A-87CC-2E541EB3B179}" type="pres">
      <dgm:prSet presAssocID="{1CDA9A9A-10C7-43D9-AE82-C89DF0910F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BA43E0-E3B9-4D00-A312-FD2A34028AC4}" type="pres">
      <dgm:prSet presAssocID="{AA687932-9AA0-4D32-8C76-307BF34B65FE}" presName="spacer" presStyleCnt="0"/>
      <dgm:spPr/>
    </dgm:pt>
    <dgm:pt modelId="{33E47B1B-3AAD-4621-8A6C-66FB2D34D37E}" type="pres">
      <dgm:prSet presAssocID="{CCC36CBF-5F5B-46B6-863B-B283BDF7C9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F1BB53-CE66-40A8-84D7-6A9DFFD65AB4}" type="pres">
      <dgm:prSet presAssocID="{6AB58FE3-FC89-458E-ADF0-4239F9CD004E}" presName="spacer" presStyleCnt="0"/>
      <dgm:spPr/>
    </dgm:pt>
    <dgm:pt modelId="{43B8E096-57CC-43B1-B070-F09415BB0141}" type="pres">
      <dgm:prSet presAssocID="{BEC866D3-7FC0-409D-A51C-98193394B9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CD2104-C75F-437E-8334-54C9B5D1FD6F}" type="presOf" srcId="{1CDA9A9A-10C7-43D9-AE82-C89DF0910F7B}" destId="{620684A4-886D-421A-87CC-2E541EB3B179}" srcOrd="0" destOrd="0" presId="urn:microsoft.com/office/officeart/2005/8/layout/vList2"/>
    <dgm:cxn modelId="{23CFCF08-3B85-4CB6-9294-6CC4C3495A0B}" srcId="{CF3F5E47-8F75-44FA-8CE8-F5A742C0BC1B}" destId="{1CDA9A9A-10C7-43D9-AE82-C89DF0910F7B}" srcOrd="1" destOrd="0" parTransId="{49B92DAC-2585-44FA-9580-49302BA9F25E}" sibTransId="{AA687932-9AA0-4D32-8C76-307BF34B65FE}"/>
    <dgm:cxn modelId="{F2659312-ED65-4D7D-86D8-097FF4B96044}" type="presOf" srcId="{BEC866D3-7FC0-409D-A51C-98193394B900}" destId="{43B8E096-57CC-43B1-B070-F09415BB0141}" srcOrd="0" destOrd="0" presId="urn:microsoft.com/office/officeart/2005/8/layout/vList2"/>
    <dgm:cxn modelId="{7908F41E-759F-4585-9722-C197355339B1}" type="presOf" srcId="{52054EF3-550B-4D15-A343-A327A3065210}" destId="{CBADB8C6-27AC-4714-A40C-18FCDC2C25E0}" srcOrd="0" destOrd="0" presId="urn:microsoft.com/office/officeart/2005/8/layout/vList2"/>
    <dgm:cxn modelId="{1FA52541-56C4-419C-B025-6FE411867D2E}" srcId="{CF3F5E47-8F75-44FA-8CE8-F5A742C0BC1B}" destId="{52054EF3-550B-4D15-A343-A327A3065210}" srcOrd="0" destOrd="0" parTransId="{272C3C65-FDCD-480E-9A15-7FF6D70DA44D}" sibTransId="{B4B5182F-9AB2-4C14-A5BA-F8341F753281}"/>
    <dgm:cxn modelId="{B273AB86-B4EB-4602-90A3-3BCF83E9636C}" type="presOf" srcId="{CF3F5E47-8F75-44FA-8CE8-F5A742C0BC1B}" destId="{0752FE78-9C7D-4BC6-9DDD-C37E7304A82D}" srcOrd="0" destOrd="0" presId="urn:microsoft.com/office/officeart/2005/8/layout/vList2"/>
    <dgm:cxn modelId="{4457F8AD-6AF9-46E9-96B0-35455180DAB4}" srcId="{CF3F5E47-8F75-44FA-8CE8-F5A742C0BC1B}" destId="{BEC866D3-7FC0-409D-A51C-98193394B900}" srcOrd="3" destOrd="0" parTransId="{DEAD707B-30E2-41DE-A58C-E712F3BCA192}" sibTransId="{1734A739-ED7C-4A88-97D4-3DA9FFF40F64}"/>
    <dgm:cxn modelId="{C3071DBF-361C-453E-80AA-8EDC33EE1F10}" srcId="{CF3F5E47-8F75-44FA-8CE8-F5A742C0BC1B}" destId="{CCC36CBF-5F5B-46B6-863B-B283BDF7C9F5}" srcOrd="2" destOrd="0" parTransId="{649A789D-B0A3-4E5A-9188-2686207A9693}" sibTransId="{6AB58FE3-FC89-458E-ADF0-4239F9CD004E}"/>
    <dgm:cxn modelId="{43234FF2-04AA-4590-B69E-0FA0F647310E}" type="presOf" srcId="{CCC36CBF-5F5B-46B6-863B-B283BDF7C9F5}" destId="{33E47B1B-3AAD-4621-8A6C-66FB2D34D37E}" srcOrd="0" destOrd="0" presId="urn:microsoft.com/office/officeart/2005/8/layout/vList2"/>
    <dgm:cxn modelId="{65A025D5-AEF2-493B-9D86-99090207A0F5}" type="presParOf" srcId="{0752FE78-9C7D-4BC6-9DDD-C37E7304A82D}" destId="{CBADB8C6-27AC-4714-A40C-18FCDC2C25E0}" srcOrd="0" destOrd="0" presId="urn:microsoft.com/office/officeart/2005/8/layout/vList2"/>
    <dgm:cxn modelId="{23BB0DF3-55F8-49D6-BB53-D3B49805FD31}" type="presParOf" srcId="{0752FE78-9C7D-4BC6-9DDD-C37E7304A82D}" destId="{42BEA784-0964-404B-AA3E-85E398428192}" srcOrd="1" destOrd="0" presId="urn:microsoft.com/office/officeart/2005/8/layout/vList2"/>
    <dgm:cxn modelId="{EB0A1EC5-BB01-42C5-B2F2-A059F89E7EE5}" type="presParOf" srcId="{0752FE78-9C7D-4BC6-9DDD-C37E7304A82D}" destId="{620684A4-886D-421A-87CC-2E541EB3B179}" srcOrd="2" destOrd="0" presId="urn:microsoft.com/office/officeart/2005/8/layout/vList2"/>
    <dgm:cxn modelId="{C83137C5-F3B9-4A7D-BFC4-4463FB5EC955}" type="presParOf" srcId="{0752FE78-9C7D-4BC6-9DDD-C37E7304A82D}" destId="{89BA43E0-E3B9-4D00-A312-FD2A34028AC4}" srcOrd="3" destOrd="0" presId="urn:microsoft.com/office/officeart/2005/8/layout/vList2"/>
    <dgm:cxn modelId="{2FF9D849-0E50-4705-B6B6-551938244568}" type="presParOf" srcId="{0752FE78-9C7D-4BC6-9DDD-C37E7304A82D}" destId="{33E47B1B-3AAD-4621-8A6C-66FB2D34D37E}" srcOrd="4" destOrd="0" presId="urn:microsoft.com/office/officeart/2005/8/layout/vList2"/>
    <dgm:cxn modelId="{A84E918D-93D5-4DDB-A3EE-4F0C1D9E636E}" type="presParOf" srcId="{0752FE78-9C7D-4BC6-9DDD-C37E7304A82D}" destId="{5AF1BB53-CE66-40A8-84D7-6A9DFFD65AB4}" srcOrd="5" destOrd="0" presId="urn:microsoft.com/office/officeart/2005/8/layout/vList2"/>
    <dgm:cxn modelId="{6E31580B-9274-4D32-962E-18A8AF573BD8}" type="presParOf" srcId="{0752FE78-9C7D-4BC6-9DDD-C37E7304A82D}" destId="{43B8E096-57CC-43B1-B070-F09415BB01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19340-C764-4428-973D-19C3696BC08B}">
      <dsp:nvSpPr>
        <dsp:cNvPr id="0" name=""/>
        <dsp:cNvSpPr/>
      </dsp:nvSpPr>
      <dsp:spPr>
        <a:xfrm>
          <a:off x="0" y="44916"/>
          <a:ext cx="5913437" cy="222610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300" b="1" kern="1200"/>
            <a:t>AI in Construction Engineering &amp; Management</a:t>
          </a:r>
          <a:endParaRPr lang="en-US" sz="3300" kern="1200"/>
        </a:p>
      </dsp:txBody>
      <dsp:txXfrm>
        <a:off x="108670" y="153586"/>
        <a:ext cx="5696097" cy="2008767"/>
      </dsp:txXfrm>
    </dsp:sp>
    <dsp:sp modelId="{8BDFA330-F5E4-438B-A2FB-C05C8F2AFAD0}">
      <dsp:nvSpPr>
        <dsp:cNvPr id="0" name=""/>
        <dsp:cNvSpPr/>
      </dsp:nvSpPr>
      <dsp:spPr>
        <a:xfrm>
          <a:off x="0" y="2366064"/>
          <a:ext cx="5913437" cy="2226107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300" kern="1200"/>
            <a:t>Based on: Pan &amp; Zhang (2021) — Automation in Construction (Article 103517)</a:t>
          </a:r>
        </a:p>
      </dsp:txBody>
      <dsp:txXfrm>
        <a:off x="108670" y="2474734"/>
        <a:ext cx="5696097" cy="20087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AD179-67D9-4747-AE48-685645557287}">
      <dsp:nvSpPr>
        <dsp:cNvPr id="0" name=""/>
        <dsp:cNvSpPr/>
      </dsp:nvSpPr>
      <dsp:spPr>
        <a:xfrm>
          <a:off x="0" y="18143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Title: Roles of artificial intelligence in construction engineering and management: A critical review and future trends</a:t>
          </a:r>
        </a:p>
      </dsp:txBody>
      <dsp:txXfrm>
        <a:off x="30157" y="48300"/>
        <a:ext cx="5853123" cy="557446"/>
      </dsp:txXfrm>
    </dsp:sp>
    <dsp:sp modelId="{3013828C-1F91-4612-BA91-037E20EFF541}">
      <dsp:nvSpPr>
        <dsp:cNvPr id="0" name=""/>
        <dsp:cNvSpPr/>
      </dsp:nvSpPr>
      <dsp:spPr>
        <a:xfrm>
          <a:off x="0" y="68198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280772"/>
                <a:satOff val="-1324"/>
                <a:lumOff val="32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80772"/>
                <a:satOff val="-1324"/>
                <a:lumOff val="32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80772"/>
                <a:satOff val="-1324"/>
                <a:lumOff val="32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Authors: Yue Pan; Limao Zhang</a:t>
          </a:r>
        </a:p>
      </dsp:txBody>
      <dsp:txXfrm>
        <a:off x="30157" y="712141"/>
        <a:ext cx="5853123" cy="557446"/>
      </dsp:txXfrm>
    </dsp:sp>
    <dsp:sp modelId="{FB2D8BB2-44A0-4295-B3A7-4EE81A917802}">
      <dsp:nvSpPr>
        <dsp:cNvPr id="0" name=""/>
        <dsp:cNvSpPr/>
      </dsp:nvSpPr>
      <dsp:spPr>
        <a:xfrm>
          <a:off x="0" y="134582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Journal: Automation in Construction (Elsevier)</a:t>
          </a:r>
        </a:p>
      </dsp:txBody>
      <dsp:txXfrm>
        <a:off x="30157" y="1375981"/>
        <a:ext cx="5853123" cy="557446"/>
      </dsp:txXfrm>
    </dsp:sp>
    <dsp:sp modelId="{4BD6AD7F-CCB9-41EA-9A76-E1450D7BF9AB}">
      <dsp:nvSpPr>
        <dsp:cNvPr id="0" name=""/>
        <dsp:cNvSpPr/>
      </dsp:nvSpPr>
      <dsp:spPr>
        <a:xfrm>
          <a:off x="0" y="200966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Volume/Issue: Volume 122 (February 2021)</a:t>
          </a:r>
        </a:p>
      </dsp:txBody>
      <dsp:txXfrm>
        <a:off x="30157" y="2039821"/>
        <a:ext cx="5853123" cy="557446"/>
      </dsp:txXfrm>
    </dsp:sp>
    <dsp:sp modelId="{58365E52-3FA3-4834-8053-7E8462BF15F3}">
      <dsp:nvSpPr>
        <dsp:cNvPr id="0" name=""/>
        <dsp:cNvSpPr/>
      </dsp:nvSpPr>
      <dsp:spPr>
        <a:xfrm>
          <a:off x="0" y="267350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Article number: 103517</a:t>
          </a:r>
        </a:p>
      </dsp:txBody>
      <dsp:txXfrm>
        <a:off x="30157" y="2703661"/>
        <a:ext cx="5853123" cy="557446"/>
      </dsp:txXfrm>
    </dsp:sp>
    <dsp:sp modelId="{35D96A0A-8A3B-4CAD-B560-F3D3F66F55EF}">
      <dsp:nvSpPr>
        <dsp:cNvPr id="0" name=""/>
        <dsp:cNvSpPr/>
      </dsp:nvSpPr>
      <dsp:spPr>
        <a:xfrm>
          <a:off x="0" y="333734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1403859"/>
                <a:satOff val="-6620"/>
                <a:lumOff val="163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03859"/>
                <a:satOff val="-6620"/>
                <a:lumOff val="163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03859"/>
                <a:satOff val="-6620"/>
                <a:lumOff val="163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Available online / Version of record: 17 December 2020</a:t>
          </a:r>
        </a:p>
      </dsp:txBody>
      <dsp:txXfrm>
        <a:off x="30157" y="3367501"/>
        <a:ext cx="5853123" cy="557446"/>
      </dsp:txXfrm>
    </dsp:sp>
    <dsp:sp modelId="{503249B8-FB08-44F5-BBA8-45AC0F17BBFC}">
      <dsp:nvSpPr>
        <dsp:cNvPr id="0" name=""/>
        <dsp:cNvSpPr/>
      </dsp:nvSpPr>
      <dsp:spPr>
        <a:xfrm>
          <a:off x="0" y="4001184"/>
          <a:ext cx="5913437" cy="61776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DOI link: https://doi.org/10.1016/j.autcon.2020.103517</a:t>
          </a:r>
        </a:p>
      </dsp:txBody>
      <dsp:txXfrm>
        <a:off x="30157" y="4031341"/>
        <a:ext cx="5853123" cy="557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C508D-BB48-4440-817C-4BC889A9141E}">
      <dsp:nvSpPr>
        <dsp:cNvPr id="0" name=""/>
        <dsp:cNvSpPr/>
      </dsp:nvSpPr>
      <dsp:spPr>
        <a:xfrm>
          <a:off x="0" y="29076"/>
          <a:ext cx="5913437" cy="148407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Construction is economically and socially critical, yet faces chronic challenges (low productivity, high safety risk).</a:t>
          </a:r>
        </a:p>
      </dsp:txBody>
      <dsp:txXfrm>
        <a:off x="72446" y="101522"/>
        <a:ext cx="5768545" cy="1339179"/>
      </dsp:txXfrm>
    </dsp:sp>
    <dsp:sp modelId="{6C3C8A50-CE6C-4BF5-ACF0-13A08053B883}">
      <dsp:nvSpPr>
        <dsp:cNvPr id="0" name=""/>
        <dsp:cNvSpPr/>
      </dsp:nvSpPr>
      <dsp:spPr>
        <a:xfrm>
          <a:off x="0" y="1576508"/>
          <a:ext cx="5913437" cy="1484071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AI-enabled forecasting, monitoring, and optimization can reduce waste, improve resource use, and support safer working conditions.</a:t>
          </a:r>
        </a:p>
      </dsp:txBody>
      <dsp:txXfrm>
        <a:off x="72446" y="1648954"/>
        <a:ext cx="5768545" cy="1339179"/>
      </dsp:txXfrm>
    </dsp:sp>
    <dsp:sp modelId="{89AF214B-6411-4072-98C8-35A947F597D1}">
      <dsp:nvSpPr>
        <dsp:cNvPr id="0" name=""/>
        <dsp:cNvSpPr/>
      </dsp:nvSpPr>
      <dsp:spPr>
        <a:xfrm>
          <a:off x="0" y="3123939"/>
          <a:ext cx="5913437" cy="1484071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By targeting “laborious, complex, or even dangerous tasks,” AI adoption can improve reliability of infrastructure delivery that communities depend on.</a:t>
          </a:r>
        </a:p>
      </dsp:txBody>
      <dsp:txXfrm>
        <a:off x="72446" y="3196385"/>
        <a:ext cx="5768545" cy="13391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DB8C6-27AC-4714-A40C-18FCDC2C25E0}">
      <dsp:nvSpPr>
        <dsp:cNvPr id="0" name=""/>
        <dsp:cNvSpPr/>
      </dsp:nvSpPr>
      <dsp:spPr>
        <a:xfrm>
          <a:off x="0" y="16524"/>
          <a:ext cx="5913437" cy="110564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Provides an evidence-based map of AI adoption in CEM to help stakeholders prioritize investment and capability-building.</a:t>
          </a:r>
        </a:p>
      </dsp:txBody>
      <dsp:txXfrm>
        <a:off x="53973" y="70497"/>
        <a:ext cx="5805491" cy="997703"/>
      </dsp:txXfrm>
    </dsp:sp>
    <dsp:sp modelId="{620684A4-886D-421A-87CC-2E541EB3B179}">
      <dsp:nvSpPr>
        <dsp:cNvPr id="0" name=""/>
        <dsp:cNvSpPr/>
      </dsp:nvSpPr>
      <dsp:spPr>
        <a:xfrm>
          <a:off x="0" y="1182654"/>
          <a:ext cx="5913437" cy="1105649"/>
        </a:xfrm>
        <a:prstGeom prst="roundRect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Identifies six forward-looking R&amp;D directions: smart robotics; cloud VR/AR; AIoT; digital twins; 4D printing; blockchains.</a:t>
          </a:r>
        </a:p>
      </dsp:txBody>
      <dsp:txXfrm>
        <a:off x="53973" y="1236627"/>
        <a:ext cx="5805491" cy="997703"/>
      </dsp:txXfrm>
    </dsp:sp>
    <dsp:sp modelId="{33E47B1B-3AAD-4621-8A6C-66FB2D34D37E}">
      <dsp:nvSpPr>
        <dsp:cNvPr id="0" name=""/>
        <dsp:cNvSpPr/>
      </dsp:nvSpPr>
      <dsp:spPr>
        <a:xfrm>
          <a:off x="0" y="2348784"/>
          <a:ext cx="5913437" cy="1105649"/>
        </a:xfrm>
        <a:prstGeom prst="roundRect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Positions these technologies as practical pathways to expand automation and intelligence across design, construction, and O&amp;M.</a:t>
          </a:r>
        </a:p>
      </dsp:txBody>
      <dsp:txXfrm>
        <a:off x="53973" y="2402757"/>
        <a:ext cx="5805491" cy="997703"/>
      </dsp:txXfrm>
    </dsp:sp>
    <dsp:sp modelId="{43B8E096-57CC-43B1-B070-F09415BB0141}">
      <dsp:nvSpPr>
        <dsp:cNvPr id="0" name=""/>
        <dsp:cNvSpPr/>
      </dsp:nvSpPr>
      <dsp:spPr>
        <a:xfrm>
          <a:off x="0" y="3514914"/>
          <a:ext cx="5913437" cy="1105649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Overall message: AI is already creating value by enabling more reliable, automated, time-saving, and cost-effective CEM processes.</a:t>
          </a:r>
        </a:p>
      </dsp:txBody>
      <dsp:txXfrm>
        <a:off x="53973" y="3568887"/>
        <a:ext cx="5805491" cy="997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03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38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82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70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81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17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2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6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66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02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51579" y="2303047"/>
            <a:ext cx="3272093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600">
                <a:solidFill>
                  <a:srgbClr val="145AA0"/>
                </a:solidFill>
              </a:defRPr>
            </a:pPr>
            <a:r>
              <a:rPr lang="en-US" sz="3000" cap="all" dirty="0">
                <a:latin typeface="+mj-lt"/>
                <a:ea typeface="+mj-ea"/>
                <a:cs typeface="+mj-cs"/>
              </a:rPr>
              <a:t>Source link (DOI): https://doi.org/10.1016/j.autcon.2020.103517</a:t>
            </a: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810F87B2-3F17-0975-2BA4-7858917E2C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834269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56"/>
    </mc:Choice>
    <mc:Fallback xmlns="">
      <p:transition spd="slow" advTm="161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1579" y="2303047"/>
            <a:ext cx="3272093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atin typeface="+mj-lt"/>
                <a:ea typeface="+mj-ea"/>
                <a:cs typeface="+mj-cs"/>
              </a:rPr>
              <a:t>Publication details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C9B7E21-203B-B852-3C32-C7F9D906F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671474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D4B225-18E9-4C5B-94D8-2ABE6D16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FB1ABD89-56AA-C989-1399-0A7096C32A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2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atin typeface="+mj-lt"/>
                <a:ea typeface="+mj-ea"/>
                <a:cs typeface="+mj-cs"/>
              </a:rPr>
              <a:t>Main findings and arguments (from the AI summary)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000"/>
              <a:t>CEM is in rapid digital transformation; AI is a key enabler for modeling, monitoring, predicting, and optimizing projects across the lifecycle.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000"/>
              <a:t>The review combines scientometric + qualitative analysis over 4,473 journal articles (1997–2020) and finds strong growth in AI-in-CEM research, especially in the last decade.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000"/>
              <a:t>Research focus has shifted from “expert systems” toward BIM, digital twins, and other data-driven approaches.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000"/>
              <a:t>Core AI benefits in CEM: modeling/pattern detection, prediction, and optimization.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000"/>
              <a:t>Six highlighted technical topics: knowledge representation &amp; reasoning; information fusion; computer vision; natural language processing; intelligent optimization; process mining.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51579" y="2303047"/>
            <a:ext cx="3272093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atin typeface="+mj-lt"/>
                <a:ea typeface="+mj-ea"/>
                <a:cs typeface="+mj-cs"/>
              </a:rPr>
              <a:t>Broader implications for society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9C13ECA-EB48-3F78-AD26-B74D3EDE25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79124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51579" y="2303047"/>
            <a:ext cx="3272093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latin typeface="+mj-lt"/>
                <a:ea typeface="+mj-ea"/>
                <a:cs typeface="+mj-cs"/>
              </a:rPr>
              <a:t>Potential influence on the construction industry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835F15F-3C2B-2BD2-AC3C-5F8C161461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83321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52616" y="962902"/>
            <a:ext cx="4176384" cy="238082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>
                <a:latin typeface="+mj-lt"/>
                <a:ea typeface="+mj-ea"/>
                <a:cs typeface="+mj-cs"/>
              </a:rPr>
              <a:t>Screenshot of 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2617" y="3531204"/>
            <a:ext cx="4171479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defRPr sz="1400">
                <a:solidFill>
                  <a:srgbClr val="145AA0"/>
                </a:solidFill>
              </a:defRPr>
            </a:pPr>
            <a:r>
              <a:rPr lang="en-US" sz="1600" cap="all"/>
              <a:t>Source link (DOI): https://doi.org/10.1016/j.autcon.2020.103517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eadline_screenshot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1740840"/>
            <a:ext cx="4960442" cy="27902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425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thippa reddy</dc:creator>
  <cp:keywords/>
  <dc:description>generated using python-pptx</dc:description>
  <cp:lastModifiedBy>Meriya Budhathoki</cp:lastModifiedBy>
  <cp:revision>2</cp:revision>
  <dcterms:created xsi:type="dcterms:W3CDTF">2013-01-27T09:14:16Z</dcterms:created>
  <dcterms:modified xsi:type="dcterms:W3CDTF">2026-02-14T16:53:07Z</dcterms:modified>
  <cp:category/>
</cp:coreProperties>
</file>