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8" r:id="rId3"/>
    <p:sldId id="257" r:id="rId4"/>
    <p:sldId id="259" r:id="rId5"/>
    <p:sldId id="260" r:id="rId6"/>
    <p:sldId id="261"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8" name="Group 17"/>
          <p:cNvGrpSpPr/>
          <p:nvPr/>
        </p:nvGrpSpPr>
        <p:grpSpPr>
          <a:xfrm>
            <a:off x="0" y="0"/>
            <a:ext cx="9144677" cy="6858000"/>
            <a:chOff x="0" y="0"/>
            <a:chExt cx="9144677" cy="6858000"/>
          </a:xfrm>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 name="Rectangle 10"/>
            <p:cNvSpPr/>
            <p:nvPr/>
          </p:nvSpPr>
          <p:spPr>
            <a:xfrm>
              <a:off x="1515532" y="1520422"/>
              <a:ext cx="6112935" cy="3818468"/>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0" y="3128434"/>
              <a:ext cx="1664208" cy="612648"/>
            </a:xfrm>
            <a:prstGeom prst="rect">
              <a:avLst/>
            </a:prstGeom>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7480469" y="3128434"/>
              <a:ext cx="1664208" cy="612648"/>
            </a:xfrm>
            <a:prstGeom prst="rect">
              <a:avLst/>
            </a:prstGeom>
          </p:spPr>
        </p:pic>
      </p:grpSp>
      <p:sp>
        <p:nvSpPr>
          <p:cNvPr id="2" name="Title 1"/>
          <p:cNvSpPr>
            <a:spLocks noGrp="1"/>
          </p:cNvSpPr>
          <p:nvPr>
            <p:ph type="ctrTitle"/>
          </p:nvPr>
        </p:nvSpPr>
        <p:spPr>
          <a:xfrm>
            <a:off x="1921934" y="1811863"/>
            <a:ext cx="5308866" cy="1515533"/>
          </a:xfrm>
        </p:spPr>
        <p:txBody>
          <a:bodyPr anchor="b">
            <a:noAutofit/>
          </a:bodyPr>
          <a:lstStyle>
            <a:lvl1pPr algn="ct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1921934" y="3598327"/>
            <a:ext cx="5308866" cy="1377651"/>
          </a:xfrm>
        </p:spPr>
        <p:txBody>
          <a:bodyPr anchor="t">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6065417" y="5054602"/>
            <a:ext cx="673276" cy="279400"/>
          </a:xfrm>
        </p:spPr>
        <p:txBody>
          <a:bodyPr/>
          <a:lstStyle/>
          <a:p>
            <a:fld id="{5BCAD085-E8A6-8845-BD4E-CB4CCA059FC4}" type="datetimeFigureOut">
              <a:rPr lang="en-US" smtClean="0"/>
              <a:t>4/4/2026</a:t>
            </a:fld>
            <a:endParaRPr lang="en-US"/>
          </a:p>
        </p:txBody>
      </p:sp>
      <p:sp>
        <p:nvSpPr>
          <p:cNvPr id="5" name="Footer Placeholder 4"/>
          <p:cNvSpPr>
            <a:spLocks noGrp="1"/>
          </p:cNvSpPr>
          <p:nvPr>
            <p:ph type="ftr" sz="quarter" idx="11"/>
          </p:nvPr>
        </p:nvSpPr>
        <p:spPr>
          <a:xfrm>
            <a:off x="1921934" y="5054602"/>
            <a:ext cx="4064860" cy="279400"/>
          </a:xfrm>
        </p:spPr>
        <p:txBody>
          <a:bodyPr/>
          <a:lstStyle/>
          <a:p>
            <a:endParaRPr lang="en-US"/>
          </a:p>
        </p:txBody>
      </p:sp>
      <p:sp>
        <p:nvSpPr>
          <p:cNvPr id="6" name="Slide Number Placeholder 5"/>
          <p:cNvSpPr>
            <a:spLocks noGrp="1"/>
          </p:cNvSpPr>
          <p:nvPr>
            <p:ph type="sldNum" sz="quarter" idx="12"/>
          </p:nvPr>
        </p:nvSpPr>
        <p:spPr>
          <a:xfrm>
            <a:off x="6817317" y="5054602"/>
            <a:ext cx="413483" cy="279400"/>
          </a:xfrm>
        </p:spPr>
        <p:txBody>
          <a:bodyPr/>
          <a:lstStyle/>
          <a:p>
            <a:fld id="{C1FF6DA9-008F-8B48-92A6-B652298478BF}" type="slidenum">
              <a:rPr lang="en-US" smtClean="0"/>
              <a:t>‹#›</a:t>
            </a:fld>
            <a:endParaRPr lang="en-US"/>
          </a:p>
        </p:txBody>
      </p:sp>
      <p:cxnSp>
        <p:nvCxnSpPr>
          <p:cNvPr id="15" name="Straight Connector 14"/>
          <p:cNvCxnSpPr/>
          <p:nvPr/>
        </p:nvCxnSpPr>
        <p:spPr>
          <a:xfrm>
            <a:off x="2019825" y="3471329"/>
            <a:ext cx="511308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63352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092802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78465" y="1641413"/>
            <a:ext cx="6595534" cy="1822514"/>
          </a:xfrm>
        </p:spPr>
        <p:txBody>
          <a:bodyPr anchor="b">
            <a:normAutofit/>
          </a:bodyPr>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78465" y="3734859"/>
            <a:ext cx="6595534"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31" name="Straight Connector 30"/>
          <p:cNvCxnSpPr/>
          <p:nvPr/>
        </p:nvCxnSpPr>
        <p:spPr>
          <a:xfrm>
            <a:off x="1278466" y="3599392"/>
            <a:ext cx="659553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58862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915337"/>
            <a:ext cx="6798734" cy="130386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176866"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5152"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4/4/2026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227118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76868"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76868"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1832"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1832"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4/4/2026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cxnSp>
        <p:nvCxnSpPr>
          <p:cNvPr id="41" name="Straight Connector 40"/>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859159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76865" y="915337"/>
            <a:ext cx="6798735" cy="1303867"/>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4/4/2026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405722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169890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388534"/>
            <a:ext cx="2536798"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120062" y="982132"/>
            <a:ext cx="3855539"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76865" y="3031065"/>
            <a:ext cx="2536798"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16" name="Straight Connector 15"/>
          <p:cNvCxnSpPr/>
          <p:nvPr/>
        </p:nvCxnSpPr>
        <p:spPr>
          <a:xfrm>
            <a:off x="1278466" y="2912533"/>
            <a:ext cx="233359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151130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883832"/>
            <a:ext cx="3632202" cy="1371600"/>
          </a:xfrm>
        </p:spPr>
        <p:txBody>
          <a:bodyPr anchor="b">
            <a:normAutofit/>
          </a:bodyPr>
          <a:lstStyle>
            <a:lvl1pPr algn="ctr">
              <a:defRPr sz="24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5183069" y="1032933"/>
            <a:ext cx="2929463"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5" y="3255432"/>
            <a:ext cx="3632201"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142371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4815415"/>
            <a:ext cx="6798734"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26260" y="1032933"/>
            <a:ext cx="7091482"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6" y="5382153"/>
            <a:ext cx="6798734"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56179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906873"/>
            <a:ext cx="6798734" cy="309786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5" y="4275666"/>
            <a:ext cx="6798736"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278465" y="4140199"/>
            <a:ext cx="660642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242019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34333" y="982132"/>
            <a:ext cx="6400250"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00200" y="3352799"/>
            <a:ext cx="5892798"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76863" y="4343400"/>
            <a:ext cx="679873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4" name="TextBox 13"/>
          <p:cNvSpPr txBox="1"/>
          <p:nvPr/>
        </p:nvSpPr>
        <p:spPr>
          <a:xfrm>
            <a:off x="849969" y="905362"/>
            <a:ext cx="45731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7633503" y="2827870"/>
            <a:ext cx="45731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278466" y="4140199"/>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37091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76869" y="3308581"/>
            <a:ext cx="679872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8" y="4777381"/>
            <a:ext cx="6798730"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391543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09416" y="982132"/>
            <a:ext cx="632516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8" name="Text Placeholder 2"/>
          <p:cNvSpPr>
            <a:spLocks noGrp="1"/>
          </p:cNvSpPr>
          <p:nvPr>
            <p:ph type="body" idx="13"/>
          </p:nvPr>
        </p:nvSpPr>
        <p:spPr>
          <a:xfrm>
            <a:off x="1176868" y="3639312"/>
            <a:ext cx="6798730"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5" y="4529667"/>
            <a:ext cx="6798736"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878060" y="896895"/>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7649796" y="2607728"/>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278466" y="342900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285447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76865" y="982131"/>
            <a:ext cx="6798734" cy="2294467"/>
          </a:xfrm>
        </p:spPr>
        <p:txBody>
          <a:bodyPr vert="horz" lIns="91440" tIns="45720" rIns="91440" bIns="45720" rtlCol="0" anchor="ctr">
            <a:normAutofit/>
          </a:bodyPr>
          <a:lstStyle>
            <a:lvl1pPr>
              <a:defRPr lang="en-US" sz="3200" b="0" dirty="0"/>
            </a:lvl1pPr>
          </a:lstStyle>
          <a:p>
            <a:pPr marL="0" lvl="0"/>
            <a:r>
              <a:rPr lang="en-US"/>
              <a:t>Click to edit Master title style</a:t>
            </a:r>
            <a:endParaRPr lang="en-US" dirty="0"/>
          </a:p>
        </p:txBody>
      </p:sp>
      <p:sp>
        <p:nvSpPr>
          <p:cNvPr id="14" name="Text Placeholder 2"/>
          <p:cNvSpPr>
            <a:spLocks noGrp="1"/>
          </p:cNvSpPr>
          <p:nvPr>
            <p:ph type="body" idx="13"/>
          </p:nvPr>
        </p:nvSpPr>
        <p:spPr>
          <a:xfrm>
            <a:off x="1176868" y="3566160"/>
            <a:ext cx="6798730"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6" y="4470400"/>
            <a:ext cx="6798734"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278469" y="3429000"/>
            <a:ext cx="660642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692133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176865" y="2490135"/>
            <a:ext cx="6798736" cy="338573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1278466" y="2354670"/>
            <a:ext cx="660642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198788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56667" y="906873"/>
            <a:ext cx="1618930" cy="496899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76867" y="906873"/>
            <a:ext cx="4915509" cy="496899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6245512" y="906873"/>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674723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9152467" cy="6858000"/>
            <a:chOff x="0" y="0"/>
            <a:chExt cx="9152467" cy="6858000"/>
          </a:xfrm>
        </p:grpSpPr>
        <p:pic>
          <p:nvPicPr>
            <p:cNvPr id="8" name="Picture 7" descr="S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8466667" y="3128434"/>
              <a:ext cx="685800" cy="606425"/>
            </a:xfrm>
            <a:prstGeom prst="rect">
              <a:avLst/>
            </a:prstGeom>
          </p:spPr>
        </p:pic>
      </p:grpSp>
      <p:sp>
        <p:nvSpPr>
          <p:cNvPr id="2" name="Title Placeholder 1"/>
          <p:cNvSpPr>
            <a:spLocks noGrp="1"/>
          </p:cNvSpPr>
          <p:nvPr>
            <p:ph type="title"/>
          </p:nvPr>
        </p:nvSpPr>
        <p:spPr>
          <a:xfrm>
            <a:off x="1176866" y="915337"/>
            <a:ext cx="6798734"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76865" y="2490135"/>
            <a:ext cx="6798736" cy="3444997"/>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356670" y="5960533"/>
            <a:ext cx="1148283"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BCAD085-E8A6-8845-BD4E-CB4CCA059FC4}" type="datetimeFigureOut">
              <a:rPr lang="en-US" smtClean="0"/>
              <a:t>4/4/2026</a:t>
            </a:fld>
            <a:endParaRPr lang="en-US"/>
          </a:p>
        </p:txBody>
      </p:sp>
      <p:sp>
        <p:nvSpPr>
          <p:cNvPr id="5" name="Footer Placeholder 4"/>
          <p:cNvSpPr>
            <a:spLocks noGrp="1"/>
          </p:cNvSpPr>
          <p:nvPr>
            <p:ph type="ftr" sz="quarter" idx="3"/>
          </p:nvPr>
        </p:nvSpPr>
        <p:spPr>
          <a:xfrm>
            <a:off x="1176865" y="5960533"/>
            <a:ext cx="5104667"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7580091" y="5960533"/>
            <a:ext cx="39551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9457726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1.xml"/><Relationship Id="rId5" Type="http://schemas.openxmlformats.org/officeDocument/2006/relationships/image" Target="../media/image10.svg"/><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jpeg"/><Relationship Id="rId1" Type="http://schemas.openxmlformats.org/officeDocument/2006/relationships/slideLayout" Target="../slideLayouts/slideLayout6.xml"/><Relationship Id="rId6" Type="http://schemas.openxmlformats.org/officeDocument/2006/relationships/image" Target="../media/image9.png"/><Relationship Id="rId5" Type="http://schemas.openxmlformats.org/officeDocument/2006/relationships/image" Target="../media/image13.png"/><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401732C-37EE-4B98-A709-9530173F3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654E48C8-2A00-4C54-BC9C-B18EE49E9C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786"/>
            <a:ext cx="9172471" cy="6856214"/>
            <a:chOff x="-15736" y="0"/>
            <a:chExt cx="12229962" cy="6856214"/>
          </a:xfrm>
        </p:grpSpPr>
        <p:pic>
          <p:nvPicPr>
            <p:cNvPr id="13" name="Picture 12">
              <a:extLst>
                <a:ext uri="{FF2B5EF4-FFF2-40B4-BE49-F238E27FC236}">
                  <a16:creationId xmlns:a16="http://schemas.microsoft.com/office/drawing/2014/main" id="{CE0A0544-8F52-43F0-AC3E-DF683908B56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4" name="Rectangle 13">
              <a:extLst>
                <a:ext uri="{FF2B5EF4-FFF2-40B4-BE49-F238E27FC236}">
                  <a16:creationId xmlns:a16="http://schemas.microsoft.com/office/drawing/2014/main" id="{2F4057D3-A680-4443-9E51-ED920A691E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5" name="Picture 14">
              <a:extLst>
                <a:ext uri="{FF2B5EF4-FFF2-40B4-BE49-F238E27FC236}">
                  <a16:creationId xmlns:a16="http://schemas.microsoft.com/office/drawing/2014/main" id="{2F6853A4-7B38-4FDE-B024-AE8BA71E738C}"/>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6" name="Picture 15">
              <a:extLst>
                <a:ext uri="{FF2B5EF4-FFF2-40B4-BE49-F238E27FC236}">
                  <a16:creationId xmlns:a16="http://schemas.microsoft.com/office/drawing/2014/main" id="{86ADF4DB-4290-4441-8F8E-04152FE60631}"/>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1"/>
          <p:cNvSpPr>
            <a:spLocks noGrp="1"/>
          </p:cNvSpPr>
          <p:nvPr>
            <p:ph type="ctrTitle"/>
          </p:nvPr>
        </p:nvSpPr>
        <p:spPr>
          <a:xfrm>
            <a:off x="748146" y="982132"/>
            <a:ext cx="3070512" cy="2823880"/>
          </a:xfrm>
        </p:spPr>
        <p:txBody>
          <a:bodyPr>
            <a:normAutofit/>
          </a:bodyPr>
          <a:lstStyle/>
          <a:p>
            <a:r>
              <a:rPr lang="it-IT" sz="4200">
                <a:solidFill>
                  <a:srgbClr val="262626"/>
                </a:solidFill>
              </a:rPr>
              <a:t>AI Data Center Moratorium Act 2026</a:t>
            </a:r>
          </a:p>
        </p:txBody>
      </p:sp>
      <p:sp>
        <p:nvSpPr>
          <p:cNvPr id="3" name="Subtitle 2"/>
          <p:cNvSpPr>
            <a:spLocks noGrp="1"/>
          </p:cNvSpPr>
          <p:nvPr>
            <p:ph type="subTitle" idx="1"/>
          </p:nvPr>
        </p:nvSpPr>
        <p:spPr>
          <a:xfrm>
            <a:off x="748146" y="4076944"/>
            <a:ext cx="3070512" cy="1679620"/>
          </a:xfrm>
        </p:spPr>
        <p:txBody>
          <a:bodyPr>
            <a:normAutofit/>
          </a:bodyPr>
          <a:lstStyle/>
          <a:p>
            <a:r>
              <a:rPr lang="en-US">
                <a:solidFill>
                  <a:srgbClr val="000000"/>
                </a:solidFill>
              </a:rPr>
              <a:t>Analysis on Government Policy and its Impact on the Construction Industry</a:t>
            </a:r>
          </a:p>
        </p:txBody>
      </p:sp>
      <p:pic>
        <p:nvPicPr>
          <p:cNvPr id="7" name="Graphic 6" descr="Gavel">
            <a:extLst>
              <a:ext uri="{FF2B5EF4-FFF2-40B4-BE49-F238E27FC236}">
                <a16:creationId xmlns:a16="http://schemas.microsoft.com/office/drawing/2014/main" id="{0BEEF1C9-A626-023C-6AE6-4AD0ACE2C7C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064001" y="1377949"/>
            <a:ext cx="4102099" cy="4102099"/>
          </a:xfrm>
          <a:prstGeom prst="rect">
            <a:avLst/>
          </a:prstGeom>
          <a:ln w="57150" cmpd="thickThin">
            <a:solidFill>
              <a:srgbClr val="7F7F7F"/>
            </a:solidFill>
            <a:miter lim="800000"/>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nodeType="withEffect">
                                  <p:stCondLst>
                                    <p:cond delay="500"/>
                                  </p:stCondLst>
                                  <p:iterate>
                                    <p:tmPct val="10000"/>
                                  </p:iterate>
                                  <p:childTnLst>
                                    <p:set>
                                      <p:cBhvr>
                                        <p:cTn id="12" dur="1" fill="hold">
                                          <p:stCondLst>
                                            <p:cond delay="0"/>
                                          </p:stCondLst>
                                        </p:cTn>
                                        <p:tgtEl>
                                          <p:spTgt spid="7"/>
                                        </p:tgtEl>
                                        <p:attrNameLst>
                                          <p:attrName>style.visibility</p:attrName>
                                        </p:attrNameLst>
                                      </p:cBhvr>
                                      <p:to>
                                        <p:strVal val="visible"/>
                                      </p:to>
                                    </p:set>
                                    <p:animEffect transition="in" filter="fade">
                                      <p:cBhvr>
                                        <p:cTn id="13"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03E8C8A2-D2DA-42F8-84AA-AC5AB4251D2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700" y="0"/>
            <a:ext cx="9173369" cy="6856214"/>
            <a:chOff x="-16934" y="0"/>
            <a:chExt cx="12231160" cy="6856214"/>
          </a:xfrm>
        </p:grpSpPr>
        <p:pic>
          <p:nvPicPr>
            <p:cNvPr id="9" name="Picture 8">
              <a:extLst>
                <a:ext uri="{FF2B5EF4-FFF2-40B4-BE49-F238E27FC236}">
                  <a16:creationId xmlns:a16="http://schemas.microsoft.com/office/drawing/2014/main" id="{9A5D1FE1-4883-49B4-AD3E-D0A3F8DCE12C}"/>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0" name="Rectangle 9">
              <a:extLst>
                <a:ext uri="{FF2B5EF4-FFF2-40B4-BE49-F238E27FC236}">
                  <a16:creationId xmlns:a16="http://schemas.microsoft.com/office/drawing/2014/main" id="{7F829EAE-7CB1-410F-BAF1-55BD6DC249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1" name="Picture 10">
              <a:extLst>
                <a:ext uri="{FF2B5EF4-FFF2-40B4-BE49-F238E27FC236}">
                  <a16:creationId xmlns:a16="http://schemas.microsoft.com/office/drawing/2014/main" id="{4EA5F8CE-974F-4443-AB3C-4799C332304B}"/>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12" name="Picture 11">
              <a:extLst>
                <a:ext uri="{FF2B5EF4-FFF2-40B4-BE49-F238E27FC236}">
                  <a16:creationId xmlns:a16="http://schemas.microsoft.com/office/drawing/2014/main" id="{94075D0C-1739-4729-A5C8-5C5707A942F5}"/>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cxnSp>
        <p:nvCxnSpPr>
          <p:cNvPr id="14" name="Straight Connector 13">
            <a:extLst>
              <a:ext uri="{FF2B5EF4-FFF2-40B4-BE49-F238E27FC236}">
                <a16:creationId xmlns:a16="http://schemas.microsoft.com/office/drawing/2014/main" id="{0DFD28A6-39F3-425F-8050-E5BF1B4523B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019299" y="3522131"/>
            <a:ext cx="5111751" cy="0"/>
          </a:xfrm>
          <a:prstGeom prst="line">
            <a:avLst/>
          </a:prstGeom>
        </p:spPr>
        <p:style>
          <a:lnRef idx="2">
            <a:schemeClr val="accent1"/>
          </a:lnRef>
          <a:fillRef idx="0">
            <a:schemeClr val="accent1"/>
          </a:fillRef>
          <a:effectRef idx="1">
            <a:schemeClr val="accent1"/>
          </a:effectRef>
          <a:fontRef idx="minor">
            <a:schemeClr val="tx1"/>
          </a:fontRef>
        </p:style>
      </p:cxnSp>
      <p:sp useBgFill="1">
        <p:nvSpPr>
          <p:cNvPr id="16" name="Rectangle 15">
            <a:extLst>
              <a:ext uri="{FF2B5EF4-FFF2-40B4-BE49-F238E27FC236}">
                <a16:creationId xmlns:a16="http://schemas.microsoft.com/office/drawing/2014/main" id="{9B347087-DEE1-4F23-8486-A2690AA195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4BB81AE-EE4A-4AA4-8941-104B6C9435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4603" y="488137"/>
            <a:ext cx="8420582" cy="5883295"/>
          </a:xfrm>
          <a:prstGeom prst="rect">
            <a:avLst/>
          </a:prstGeom>
          <a:solidFill>
            <a:schemeClr val="tx2"/>
          </a:solidFill>
          <a:ln>
            <a:noFill/>
          </a:ln>
          <a:effectLst>
            <a:outerShdw blurRad="114300" dist="127000" dir="5400000" sx="99000" sy="99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pic>
        <p:nvPicPr>
          <p:cNvPr id="3" name="Picture 2" descr="image.png"/>
          <p:cNvPicPr>
            <a:picLocks noChangeAspect="1"/>
          </p:cNvPicPr>
          <p:nvPr/>
        </p:nvPicPr>
        <p:blipFill>
          <a:blip r:embed="rId5">
            <a:alphaModFix amt="50000"/>
          </a:blip>
          <a:srcRect l="10055" r="17309" b="1"/>
          <a:stretch>
            <a:fillRect/>
          </a:stretch>
        </p:blipFill>
        <p:spPr>
          <a:xfrm>
            <a:off x="364603" y="488137"/>
            <a:ext cx="8420582" cy="5883295"/>
          </a:xfrm>
          <a:prstGeom prst="rect">
            <a:avLst/>
          </a:prstGeom>
        </p:spPr>
      </p:pic>
      <p:cxnSp>
        <p:nvCxnSpPr>
          <p:cNvPr id="20" name="Straight Connector 19">
            <a:extLst>
              <a:ext uri="{FF2B5EF4-FFF2-40B4-BE49-F238E27FC236}">
                <a16:creationId xmlns:a16="http://schemas.microsoft.com/office/drawing/2014/main" id="{4AA791FC-1AEF-4561-93B5-6B9E981BBB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65960" y="3594428"/>
            <a:ext cx="521208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AAA2202F-2A68-464D-8E53-CEBE9303D8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6009" y="609600"/>
            <a:ext cx="8229600" cy="5638800"/>
          </a:xfrm>
          <a:prstGeom prst="rect">
            <a:avLst/>
          </a:prstGeom>
          <a:noFill/>
          <a:ln w="15875" cap="flat">
            <a:solidFill>
              <a:schemeClr val="bg1"/>
            </a:solidFill>
            <a:miter lim="800000"/>
          </a:ln>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24" name="Group 23">
            <a:extLst>
              <a:ext uri="{FF2B5EF4-FFF2-40B4-BE49-F238E27FC236}">
                <a16:creationId xmlns:a16="http://schemas.microsoft.com/office/drawing/2014/main" id="{5B129734-DF6D-46B8-A0E0-4F178B3AD2F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128956"/>
            <a:ext cx="9176000" cy="658368"/>
            <a:chOff x="-18288" y="3128956"/>
            <a:chExt cx="12234672" cy="658368"/>
          </a:xfrm>
        </p:grpSpPr>
        <p:sp useBgFill="1">
          <p:nvSpPr>
            <p:cNvPr id="25" name="Rounded Rectangle 21">
              <a:extLst>
                <a:ext uri="{FF2B5EF4-FFF2-40B4-BE49-F238E27FC236}">
                  <a16:creationId xmlns:a16="http://schemas.microsoft.com/office/drawing/2014/main" id="{6A986578-4991-4E9B-94B7-056F6B09B7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2303" y="3128956"/>
              <a:ext cx="45720" cy="658368"/>
            </a:xfrm>
            <a:prstGeom prst="roundRect">
              <a:avLst>
                <a:gd name="adj" fmla="val 50000"/>
              </a:avLst>
            </a:prstGeom>
            <a:ln w="9525">
              <a:noFill/>
            </a:ln>
            <a:effectLst>
              <a:innerShdw blurRad="114300">
                <a:prstClr val="black">
                  <a:alpha val="8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pic>
          <p:nvPicPr>
            <p:cNvPr id="26" name="Picture 25">
              <a:extLst>
                <a:ext uri="{FF2B5EF4-FFF2-40B4-BE49-F238E27FC236}">
                  <a16:creationId xmlns:a16="http://schemas.microsoft.com/office/drawing/2014/main" id="{257D0097-ACF2-46A6-804C-C5D55A188FE5}"/>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18288" y="3154680"/>
              <a:ext cx="777240" cy="606425"/>
            </a:xfrm>
            <a:prstGeom prst="rect">
              <a:avLst/>
            </a:prstGeom>
          </p:spPr>
        </p:pic>
        <p:sp useBgFill="1">
          <p:nvSpPr>
            <p:cNvPr id="27" name="Rounded Rectangle 27">
              <a:extLst>
                <a:ext uri="{FF2B5EF4-FFF2-40B4-BE49-F238E27FC236}">
                  <a16:creationId xmlns:a16="http://schemas.microsoft.com/office/drawing/2014/main" id="{A71DA5EB-109A-4C2F-A093-7E5F6490BD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14377" y="3128956"/>
              <a:ext cx="45720" cy="658368"/>
            </a:xfrm>
            <a:prstGeom prst="roundRect">
              <a:avLst>
                <a:gd name="adj" fmla="val 50000"/>
              </a:avLst>
            </a:prstGeom>
            <a:ln w="9525">
              <a:noFill/>
            </a:ln>
            <a:effectLst>
              <a:innerShdw blurRad="114300">
                <a:prstClr val="black">
                  <a:alpha val="8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pic>
          <p:nvPicPr>
            <p:cNvPr id="28" name="Picture 27">
              <a:extLst>
                <a:ext uri="{FF2B5EF4-FFF2-40B4-BE49-F238E27FC236}">
                  <a16:creationId xmlns:a16="http://schemas.microsoft.com/office/drawing/2014/main" id="{DA85B8CE-EB01-4DD0-8B39-D413503D772C}"/>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flipH="1">
              <a:off x="11439144" y="3154680"/>
              <a:ext cx="777240" cy="606425"/>
            </a:xfrm>
            <a:prstGeom prst="rect">
              <a:avLst/>
            </a:prstGeom>
          </p:spPr>
        </p:pic>
      </p:grpSp>
      <p:sp>
        <p:nvSpPr>
          <p:cNvPr id="2" name="Title 1"/>
          <p:cNvSpPr>
            <a:spLocks noGrp="1"/>
          </p:cNvSpPr>
          <p:nvPr>
            <p:ph type="title"/>
          </p:nvPr>
        </p:nvSpPr>
        <p:spPr>
          <a:xfrm>
            <a:off x="1668302" y="1113698"/>
            <a:ext cx="6172200" cy="2345264"/>
          </a:xfrm>
        </p:spPr>
        <p:txBody>
          <a:bodyPr vert="horz" lIns="91440" tIns="45720" rIns="91440" bIns="45720" rtlCol="0" anchor="b">
            <a:normAutofit/>
          </a:bodyPr>
          <a:lstStyle/>
          <a:p>
            <a:r>
              <a:rPr lang="en-US" sz="6300">
                <a:solidFill>
                  <a:schemeClr val="bg1"/>
                </a:solidFill>
              </a:rPr>
              <a:t>Screenshot of Headline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C878D9A-77BE-4701-AE3D-EEFC53CD50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643BE08-0ED1-4B73-AC6D-B7E26A59CD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997" y="469900"/>
            <a:ext cx="2771251" cy="5918200"/>
          </a:xfrm>
          <a:prstGeom prst="rect">
            <a:avLst/>
          </a:prstGeom>
          <a:solidFill>
            <a:schemeClr val="tx2">
              <a:lumMod val="90000"/>
              <a:lumOff val="10000"/>
            </a:schemeClr>
          </a:solidFill>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56B2094-7FC0-45FC-BFED-3CB88CEE63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9751" y="635508"/>
            <a:ext cx="2523744"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714081" y="954756"/>
            <a:ext cx="2047810" cy="4946003"/>
          </a:xfrm>
        </p:spPr>
        <p:txBody>
          <a:bodyPr>
            <a:normAutofit/>
          </a:bodyPr>
          <a:lstStyle/>
          <a:p>
            <a:r>
              <a:rPr lang="en-US" sz="2800">
                <a:solidFill>
                  <a:srgbClr val="FFFFFF"/>
                </a:solidFill>
              </a:rPr>
              <a:t>Article Information</a:t>
            </a:r>
          </a:p>
        </p:txBody>
      </p:sp>
      <p:sp>
        <p:nvSpPr>
          <p:cNvPr id="14" name="Rectangle 13">
            <a:extLst>
              <a:ext uri="{FF2B5EF4-FFF2-40B4-BE49-F238E27FC236}">
                <a16:creationId xmlns:a16="http://schemas.microsoft.com/office/drawing/2014/main" id="{07A4B640-BB7F-4272-A710-068DBA9F9A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0722" y="0"/>
            <a:ext cx="5653278" cy="6858000"/>
          </a:xfrm>
          <a:prstGeom prst="rect">
            <a:avLst/>
          </a:prstGeom>
          <a:gradFill>
            <a:gsLst>
              <a:gs pos="0">
                <a:schemeClr val="bg1"/>
              </a:gs>
              <a:gs pos="30000">
                <a:schemeClr val="bg1"/>
              </a:gs>
              <a:gs pos="61000">
                <a:schemeClr val="bg2">
                  <a:lumMod val="20000"/>
                  <a:lumOff val="80000"/>
                </a:schemeClr>
              </a:gs>
              <a:gs pos="97000">
                <a:schemeClr val="bg2">
                  <a:lumMod val="70000"/>
                  <a:lumOff val="30000"/>
                </a:schemeClr>
              </a:gs>
            </a:gsLst>
            <a:path path="circle">
              <a:fillToRect l="50000" t="50000" r="50000" b="50000"/>
            </a:path>
          </a:gradFill>
          <a:ln>
            <a:noFill/>
          </a:ln>
          <a:effectLst>
            <a:innerShdw blurRad="63500" dist="50800" dir="108000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855700" y="469900"/>
            <a:ext cx="4465223" cy="5405968"/>
          </a:xfrm>
        </p:spPr>
        <p:txBody>
          <a:bodyPr anchor="ctr">
            <a:normAutofit/>
          </a:bodyPr>
          <a:lstStyle/>
          <a:p>
            <a:pPr marL="0" indent="0">
              <a:lnSpc>
                <a:spcPct val="90000"/>
              </a:lnSpc>
              <a:buNone/>
            </a:pPr>
            <a:r>
              <a:rPr lang="en-US" sz="2000"/>
              <a:t>Article Publication Date: March 27, 2026</a:t>
            </a:r>
          </a:p>
          <a:p>
            <a:pPr marL="0" indent="0">
              <a:lnSpc>
                <a:spcPct val="90000"/>
              </a:lnSpc>
              <a:buNone/>
            </a:pPr>
            <a:r>
              <a:rPr lang="en-US" sz="2000"/>
              <a:t>Article Number: (5)</a:t>
            </a:r>
          </a:p>
          <a:p>
            <a:pPr marL="0" indent="0">
              <a:lnSpc>
                <a:spcPct val="90000"/>
              </a:lnSpc>
              <a:buNone/>
            </a:pPr>
            <a:r>
              <a:rPr lang="en-US" sz="2000"/>
              <a:t>Title: 'Congress is way behind where it should be in understanding the nature of this revolution and its impacts: New bill from Bernie Sanders and AOC wants to try and pause US data center construction'</a:t>
            </a:r>
          </a:p>
          <a:p>
            <a:pPr marL="0" indent="0">
              <a:lnSpc>
                <a:spcPct val="90000"/>
              </a:lnSpc>
              <a:buNone/>
            </a:pPr>
            <a:r>
              <a:rPr lang="en-US" sz="2000"/>
              <a:t>Link to Source: https://www.techradar.com/pro/congress-is-way-behind-where-it-should-be-in-understanding-the-nature-of-this-revolution-and-its-impacts-new-bill-from-bernie-sanders-and-aoc-wants-to-try-and-pause-us-data-center-construction</a:t>
            </a:r>
          </a:p>
          <a:p>
            <a:pPr>
              <a:lnSpc>
                <a:spcPct val="90000"/>
              </a:lnSpc>
            </a:pPr>
            <a:endParaRPr lang="en-US" sz="2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C878D9A-77BE-4701-AE3D-EEFC53CD50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643BE08-0ED1-4B73-AC6D-B7E26A59CD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997" y="469900"/>
            <a:ext cx="2771251" cy="5918200"/>
          </a:xfrm>
          <a:prstGeom prst="rect">
            <a:avLst/>
          </a:prstGeom>
          <a:solidFill>
            <a:schemeClr val="tx2">
              <a:lumMod val="90000"/>
              <a:lumOff val="10000"/>
            </a:schemeClr>
          </a:solidFill>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56B2094-7FC0-45FC-BFED-3CB88CEE63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9751" y="635508"/>
            <a:ext cx="2523744"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714081" y="954756"/>
            <a:ext cx="2047810" cy="4946003"/>
          </a:xfrm>
        </p:spPr>
        <p:txBody>
          <a:bodyPr>
            <a:normAutofit/>
          </a:bodyPr>
          <a:lstStyle/>
          <a:p>
            <a:pPr>
              <a:lnSpc>
                <a:spcPct val="90000"/>
              </a:lnSpc>
            </a:pPr>
            <a:r>
              <a:rPr lang="en-US" sz="3100">
                <a:solidFill>
                  <a:srgbClr val="FFFFFF"/>
                </a:solidFill>
              </a:rPr>
              <a:t>AI Summary</a:t>
            </a:r>
            <a:br>
              <a:rPr lang="en-US" sz="3100">
                <a:solidFill>
                  <a:srgbClr val="FFFFFF"/>
                </a:solidFill>
              </a:rPr>
            </a:br>
            <a:r>
              <a:rPr lang="en-US" sz="3100">
                <a:solidFill>
                  <a:srgbClr val="FFFFFF"/>
                </a:solidFill>
              </a:rPr>
              <a:t>Main Findings and Arguments:</a:t>
            </a:r>
          </a:p>
        </p:txBody>
      </p:sp>
      <p:sp>
        <p:nvSpPr>
          <p:cNvPr id="14" name="Rectangle 13">
            <a:extLst>
              <a:ext uri="{FF2B5EF4-FFF2-40B4-BE49-F238E27FC236}">
                <a16:creationId xmlns:a16="http://schemas.microsoft.com/office/drawing/2014/main" id="{07A4B640-BB7F-4272-A710-068DBA9F9A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0722" y="0"/>
            <a:ext cx="5653278" cy="6858000"/>
          </a:xfrm>
          <a:prstGeom prst="rect">
            <a:avLst/>
          </a:prstGeom>
          <a:gradFill>
            <a:gsLst>
              <a:gs pos="0">
                <a:schemeClr val="bg1"/>
              </a:gs>
              <a:gs pos="30000">
                <a:schemeClr val="bg1"/>
              </a:gs>
              <a:gs pos="61000">
                <a:schemeClr val="bg2">
                  <a:lumMod val="20000"/>
                  <a:lumOff val="80000"/>
                </a:schemeClr>
              </a:gs>
              <a:gs pos="97000">
                <a:schemeClr val="bg2">
                  <a:lumMod val="70000"/>
                  <a:lumOff val="30000"/>
                </a:schemeClr>
              </a:gs>
            </a:gsLst>
            <a:path path="circle">
              <a:fillToRect l="50000" t="50000" r="50000" b="50000"/>
            </a:path>
          </a:gradFill>
          <a:ln>
            <a:noFill/>
          </a:ln>
          <a:effectLst>
            <a:innerShdw blurRad="63500" dist="50800" dir="108000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855700" y="469900"/>
            <a:ext cx="4465223" cy="5405968"/>
          </a:xfrm>
        </p:spPr>
        <p:txBody>
          <a:bodyPr anchor="ctr">
            <a:normAutofit/>
          </a:bodyPr>
          <a:lstStyle/>
          <a:p>
            <a:pPr>
              <a:lnSpc>
                <a:spcPct val="90000"/>
              </a:lnSpc>
            </a:pPr>
            <a:r>
              <a:rPr lang="en-US" sz="1500"/>
              <a:t>The article discusses the </a:t>
            </a:r>
            <a:r>
              <a:rPr lang="en-US" sz="1500" b="1"/>
              <a:t>Artificial Intelligence Data Center Moratorium Act of 2026</a:t>
            </a:r>
            <a:r>
              <a:rPr lang="en-US" sz="1500"/>
              <a:t>, a bill introduced by </a:t>
            </a:r>
            <a:r>
              <a:rPr lang="en-US" sz="1500" b="1"/>
              <a:t>Senator Bernie Sanders</a:t>
            </a:r>
            <a:r>
              <a:rPr lang="en-US" sz="1500"/>
              <a:t> and </a:t>
            </a:r>
            <a:r>
              <a:rPr lang="en-US" sz="1500" b="1"/>
              <a:t>Representative Alexandria Ocasio-Cortez</a:t>
            </a:r>
            <a:r>
              <a:rPr lang="en-US" sz="1500"/>
              <a:t>. The bill seeks to </a:t>
            </a:r>
            <a:r>
              <a:rPr lang="en-US" sz="1500" b="1"/>
              <a:t>pause the construction of new AI data centers</a:t>
            </a:r>
            <a:r>
              <a:rPr lang="en-US" sz="1500"/>
              <a:t> and the </a:t>
            </a:r>
            <a:r>
              <a:rPr lang="en-US" sz="1500" b="1"/>
              <a:t>expansion of existing ones</a:t>
            </a:r>
            <a:r>
              <a:rPr lang="en-US" sz="1500"/>
              <a:t> across the United States until the government can establish adequate regulatory frameworks. The </a:t>
            </a:r>
            <a:r>
              <a:rPr lang="en-US" sz="1500" b="1"/>
              <a:t>primary argument</a:t>
            </a:r>
            <a:r>
              <a:rPr lang="en-US" sz="1500"/>
              <a:t> behind the bill is to allow the government to </a:t>
            </a:r>
            <a:r>
              <a:rPr lang="en-US" sz="1500" b="1"/>
              <a:t>catch up</a:t>
            </a:r>
            <a:r>
              <a:rPr lang="en-US" sz="1500"/>
              <a:t> with AI developments by slowing the rapid growth of data centers that support AI technology.</a:t>
            </a:r>
          </a:p>
          <a:p>
            <a:pPr>
              <a:lnSpc>
                <a:spcPct val="90000"/>
              </a:lnSpc>
            </a:pPr>
            <a:r>
              <a:rPr lang="en-US" sz="1500"/>
              <a:t>The bill is motivated by concerns that AI's expansion has already led to </a:t>
            </a:r>
            <a:r>
              <a:rPr lang="en-US" sz="1500" b="1"/>
              <a:t>job losses</a:t>
            </a:r>
            <a:r>
              <a:rPr lang="en-US" sz="1500"/>
              <a:t> due to automation, and it raises concerns about </a:t>
            </a:r>
            <a:r>
              <a:rPr lang="en-US" sz="1500" b="1"/>
              <a:t>surveillance</a:t>
            </a:r>
            <a:r>
              <a:rPr lang="en-US" sz="1500"/>
              <a:t>, </a:t>
            </a:r>
            <a:r>
              <a:rPr lang="en-US" sz="1500" b="1"/>
              <a:t>misinformation</a:t>
            </a:r>
            <a:r>
              <a:rPr lang="en-US" sz="1500"/>
              <a:t>, and the </a:t>
            </a:r>
            <a:r>
              <a:rPr lang="en-US" sz="1500" b="1"/>
              <a:t>environmental impact</a:t>
            </a:r>
            <a:r>
              <a:rPr lang="en-US" sz="1500"/>
              <a:t> of AI infrastructure, particularly the high </a:t>
            </a:r>
            <a:r>
              <a:rPr lang="en-US" sz="1500" b="1"/>
              <a:t>energy and water usage</a:t>
            </a:r>
            <a:r>
              <a:rPr lang="en-US" sz="1500"/>
              <a:t> associated with running data centers. The </a:t>
            </a:r>
            <a:r>
              <a:rPr lang="en-US" sz="1500" b="1"/>
              <a:t>pause</a:t>
            </a:r>
            <a:r>
              <a:rPr lang="en-US" sz="1500"/>
              <a:t> is seen as a necessary step to ensure that </a:t>
            </a:r>
            <a:r>
              <a:rPr lang="en-US" sz="1500" b="1"/>
              <a:t>privacy</a:t>
            </a:r>
            <a:r>
              <a:rPr lang="en-US" sz="1500"/>
              <a:t>, </a:t>
            </a:r>
            <a:r>
              <a:rPr lang="en-US" sz="1500" b="1"/>
              <a:t>civil rights</a:t>
            </a:r>
            <a:r>
              <a:rPr lang="en-US" sz="1500"/>
              <a:t>, </a:t>
            </a:r>
            <a:r>
              <a:rPr lang="en-US" sz="1500" b="1"/>
              <a:t>economic impacts</a:t>
            </a:r>
            <a:r>
              <a:rPr lang="en-US" sz="1500"/>
              <a:t>, and </a:t>
            </a:r>
            <a:r>
              <a:rPr lang="en-US" sz="1500" b="1"/>
              <a:t>environmental factors</a:t>
            </a:r>
            <a:r>
              <a:rPr lang="en-US" sz="1500"/>
              <a:t> are adequately addressed before further AI rollouts occur. The goal is to </a:t>
            </a:r>
            <a:r>
              <a:rPr lang="en-US" sz="1500" b="1"/>
              <a:t>prevent Big Tech</a:t>
            </a:r>
            <a:r>
              <a:rPr lang="en-US" sz="1500"/>
              <a:t> from influencing societal and economic structures in ways that are detrimental to democracy and public welfare.</a:t>
            </a:r>
          </a:p>
          <a:p>
            <a:pPr>
              <a:lnSpc>
                <a:spcPct val="90000"/>
              </a:lnSpc>
            </a:pPr>
            <a:endParaRPr lang="en-US" sz="15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C878D9A-77BE-4701-AE3D-EEFC53CD50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643BE08-0ED1-4B73-AC6D-B7E26A59CD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997" y="469900"/>
            <a:ext cx="2771251" cy="5918200"/>
          </a:xfrm>
          <a:prstGeom prst="rect">
            <a:avLst/>
          </a:prstGeom>
          <a:solidFill>
            <a:schemeClr val="tx2">
              <a:lumMod val="90000"/>
              <a:lumOff val="10000"/>
            </a:schemeClr>
          </a:solidFill>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56B2094-7FC0-45FC-BFED-3CB88CEE63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9751" y="635508"/>
            <a:ext cx="2523744"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C7085C28-4CF7-CBBF-479C-E0F83D13EEB4}"/>
              </a:ext>
            </a:extLst>
          </p:cNvPr>
          <p:cNvSpPr>
            <a:spLocks noGrp="1"/>
          </p:cNvSpPr>
          <p:nvPr>
            <p:ph type="title"/>
          </p:nvPr>
        </p:nvSpPr>
        <p:spPr>
          <a:xfrm>
            <a:off x="714081" y="954756"/>
            <a:ext cx="2047810" cy="4946003"/>
          </a:xfrm>
        </p:spPr>
        <p:txBody>
          <a:bodyPr>
            <a:normAutofit/>
          </a:bodyPr>
          <a:lstStyle/>
          <a:p>
            <a:r>
              <a:rPr lang="en-US" sz="2800">
                <a:solidFill>
                  <a:srgbClr val="FFFFFF"/>
                </a:solidFill>
              </a:rPr>
              <a:t>Broader Implications for Society:</a:t>
            </a:r>
          </a:p>
        </p:txBody>
      </p:sp>
      <p:sp>
        <p:nvSpPr>
          <p:cNvPr id="14" name="Rectangle 13">
            <a:extLst>
              <a:ext uri="{FF2B5EF4-FFF2-40B4-BE49-F238E27FC236}">
                <a16:creationId xmlns:a16="http://schemas.microsoft.com/office/drawing/2014/main" id="{07A4B640-BB7F-4272-A710-068DBA9F9A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0722" y="0"/>
            <a:ext cx="5653278" cy="6858000"/>
          </a:xfrm>
          <a:prstGeom prst="rect">
            <a:avLst/>
          </a:prstGeom>
          <a:gradFill>
            <a:gsLst>
              <a:gs pos="0">
                <a:schemeClr val="bg1"/>
              </a:gs>
              <a:gs pos="30000">
                <a:schemeClr val="bg1"/>
              </a:gs>
              <a:gs pos="61000">
                <a:schemeClr val="bg2">
                  <a:lumMod val="20000"/>
                  <a:lumOff val="80000"/>
                </a:schemeClr>
              </a:gs>
              <a:gs pos="97000">
                <a:schemeClr val="bg2">
                  <a:lumMod val="70000"/>
                  <a:lumOff val="30000"/>
                </a:schemeClr>
              </a:gs>
            </a:gsLst>
            <a:path path="circle">
              <a:fillToRect l="50000" t="50000" r="50000" b="50000"/>
            </a:path>
          </a:gradFill>
          <a:ln>
            <a:noFill/>
          </a:ln>
          <a:effectLst>
            <a:innerShdw blurRad="63500" dist="50800" dir="108000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067E901-1BD3-8264-2094-701DA1B2921C}"/>
              </a:ext>
            </a:extLst>
          </p:cNvPr>
          <p:cNvSpPr>
            <a:spLocks noGrp="1"/>
          </p:cNvSpPr>
          <p:nvPr>
            <p:ph idx="1"/>
          </p:nvPr>
        </p:nvSpPr>
        <p:spPr>
          <a:xfrm>
            <a:off x="3855700" y="469900"/>
            <a:ext cx="4465223" cy="5405968"/>
          </a:xfrm>
        </p:spPr>
        <p:txBody>
          <a:bodyPr anchor="ctr">
            <a:normAutofit/>
          </a:bodyPr>
          <a:lstStyle/>
          <a:p>
            <a:pPr>
              <a:lnSpc>
                <a:spcPct val="90000"/>
              </a:lnSpc>
            </a:pPr>
            <a:r>
              <a:rPr lang="en-US" sz="1500"/>
              <a:t>The </a:t>
            </a:r>
            <a:r>
              <a:rPr lang="en-US" sz="1500" b="1"/>
              <a:t>broader societal implications</a:t>
            </a:r>
            <a:r>
              <a:rPr lang="en-US" sz="1500"/>
              <a:t> of this bill are substantial. By proposing a </a:t>
            </a:r>
            <a:r>
              <a:rPr lang="en-US" sz="1500" b="1"/>
              <a:t>moratorium</a:t>
            </a:r>
            <a:r>
              <a:rPr lang="en-US" sz="1500"/>
              <a:t> on AI data center expansion, the bill seeks to </a:t>
            </a:r>
            <a:r>
              <a:rPr lang="en-US" sz="1500" b="1"/>
              <a:t>slow the pace of technological growth</a:t>
            </a:r>
            <a:r>
              <a:rPr lang="en-US" sz="1500"/>
              <a:t> in order to ensure that its negative consequences are mitigated. This includes concerns about the </a:t>
            </a:r>
            <a:r>
              <a:rPr lang="en-US" sz="1500" b="1"/>
              <a:t>displacement of jobs</a:t>
            </a:r>
            <a:r>
              <a:rPr lang="en-US" sz="1500"/>
              <a:t> as AI technologies increasingly take over human roles in various sectors. It also addresses fears of AI being used for </a:t>
            </a:r>
            <a:r>
              <a:rPr lang="en-US" sz="1500" b="1"/>
              <a:t>mass surveillance</a:t>
            </a:r>
            <a:r>
              <a:rPr lang="en-US" sz="1500"/>
              <a:t> and the potential for </a:t>
            </a:r>
            <a:r>
              <a:rPr lang="en-US" sz="1500" b="1"/>
              <a:t>privacy violations</a:t>
            </a:r>
            <a:r>
              <a:rPr lang="en-US" sz="1500"/>
              <a:t>, as well as the risks of </a:t>
            </a:r>
            <a:r>
              <a:rPr lang="en-US" sz="1500" b="1"/>
              <a:t>deepfakes</a:t>
            </a:r>
            <a:r>
              <a:rPr lang="en-US" sz="1500"/>
              <a:t> and </a:t>
            </a:r>
            <a:r>
              <a:rPr lang="en-US" sz="1500" b="1"/>
              <a:t>misinformation</a:t>
            </a:r>
            <a:r>
              <a:rPr lang="en-US" sz="1500"/>
              <a:t> spreading unchecked through AI-generated content.</a:t>
            </a:r>
          </a:p>
          <a:p>
            <a:pPr>
              <a:lnSpc>
                <a:spcPct val="90000"/>
              </a:lnSpc>
            </a:pPr>
            <a:r>
              <a:rPr lang="en-US" sz="1500"/>
              <a:t>Additionally, the </a:t>
            </a:r>
            <a:r>
              <a:rPr lang="en-US" sz="1500" b="1"/>
              <a:t>environmental impact</a:t>
            </a:r>
            <a:r>
              <a:rPr lang="en-US" sz="1500"/>
              <a:t> of AI infrastructure is highlighted, with data centers requiring significant </a:t>
            </a:r>
            <a:r>
              <a:rPr lang="en-US" sz="1500" b="1"/>
              <a:t>resources</a:t>
            </a:r>
            <a:r>
              <a:rPr lang="en-US" sz="1500"/>
              <a:t> for their operation, including </a:t>
            </a:r>
            <a:r>
              <a:rPr lang="en-US" sz="1500" b="1"/>
              <a:t>electricity</a:t>
            </a:r>
            <a:r>
              <a:rPr lang="en-US" sz="1500"/>
              <a:t> and </a:t>
            </a:r>
            <a:r>
              <a:rPr lang="en-US" sz="1500" b="1"/>
              <a:t>water</a:t>
            </a:r>
            <a:r>
              <a:rPr lang="en-US" sz="1500"/>
              <a:t>. This raises concerns about the sustainability of AI technology in the face of growing environmental challenges like </a:t>
            </a:r>
            <a:r>
              <a:rPr lang="en-US" sz="1500" b="1"/>
              <a:t>climate change</a:t>
            </a:r>
            <a:r>
              <a:rPr lang="en-US" sz="1500"/>
              <a:t>. The bill emphasizes the need for a </a:t>
            </a:r>
            <a:r>
              <a:rPr lang="en-US" sz="1500" b="1"/>
              <a:t>regulatory framework</a:t>
            </a:r>
            <a:r>
              <a:rPr lang="en-US" sz="1500"/>
              <a:t> that balances technological advancement with the protection of society’s core values, ensuring that AI development does not come at the expense of </a:t>
            </a:r>
            <a:r>
              <a:rPr lang="en-US" sz="1500" b="1"/>
              <a:t>social well-being</a:t>
            </a:r>
            <a:r>
              <a:rPr lang="en-US" sz="1500"/>
              <a:t> or the </a:t>
            </a:r>
            <a:r>
              <a:rPr lang="en-US" sz="1500" b="1"/>
              <a:t>environment</a:t>
            </a:r>
            <a:r>
              <a:rPr lang="en-US" sz="1500"/>
              <a:t>.</a:t>
            </a:r>
          </a:p>
          <a:p>
            <a:pPr>
              <a:lnSpc>
                <a:spcPct val="90000"/>
              </a:lnSpc>
            </a:pPr>
            <a:endParaRPr lang="en-US" sz="1500"/>
          </a:p>
        </p:txBody>
      </p:sp>
    </p:spTree>
    <p:extLst>
      <p:ext uri="{BB962C8B-B14F-4D97-AF65-F5344CB8AC3E}">
        <p14:creationId xmlns:p14="http://schemas.microsoft.com/office/powerpoint/2010/main" val="28421530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C878D9A-77BE-4701-AE3D-EEFC53CD50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643BE08-0ED1-4B73-AC6D-B7E26A59CD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997" y="469900"/>
            <a:ext cx="2771251" cy="5918200"/>
          </a:xfrm>
          <a:prstGeom prst="rect">
            <a:avLst/>
          </a:prstGeom>
          <a:solidFill>
            <a:schemeClr val="tx2">
              <a:lumMod val="90000"/>
              <a:lumOff val="10000"/>
            </a:schemeClr>
          </a:solidFill>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56B2094-7FC0-45FC-BFED-3CB88CEE63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9751" y="635508"/>
            <a:ext cx="2523744"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2E032C01-496B-75B6-60E2-38A30704B409}"/>
              </a:ext>
            </a:extLst>
          </p:cNvPr>
          <p:cNvSpPr>
            <a:spLocks noGrp="1"/>
          </p:cNvSpPr>
          <p:nvPr>
            <p:ph type="title"/>
          </p:nvPr>
        </p:nvSpPr>
        <p:spPr>
          <a:xfrm>
            <a:off x="186813" y="954756"/>
            <a:ext cx="3064188" cy="4946003"/>
          </a:xfrm>
        </p:spPr>
        <p:txBody>
          <a:bodyPr>
            <a:normAutofit/>
          </a:bodyPr>
          <a:lstStyle/>
          <a:p>
            <a:r>
              <a:rPr lang="en-IN" dirty="0" err="1">
                <a:highlight>
                  <a:srgbClr val="C0C0C0"/>
                </a:highlight>
              </a:rPr>
              <a:t>Relevence</a:t>
            </a:r>
            <a:r>
              <a:rPr lang="en-IN" dirty="0">
                <a:highlight>
                  <a:srgbClr val="C0C0C0"/>
                </a:highlight>
              </a:rPr>
              <a:t> to construction industry</a:t>
            </a:r>
            <a:endParaRPr lang="en-US" dirty="0">
              <a:solidFill>
                <a:srgbClr val="FFFFFF"/>
              </a:solidFill>
              <a:highlight>
                <a:srgbClr val="C0C0C0"/>
              </a:highlight>
            </a:endParaRPr>
          </a:p>
        </p:txBody>
      </p:sp>
      <p:sp>
        <p:nvSpPr>
          <p:cNvPr id="14" name="Rectangle 13">
            <a:extLst>
              <a:ext uri="{FF2B5EF4-FFF2-40B4-BE49-F238E27FC236}">
                <a16:creationId xmlns:a16="http://schemas.microsoft.com/office/drawing/2014/main" id="{07A4B640-BB7F-4272-A710-068DBA9F9A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0722" y="0"/>
            <a:ext cx="5653278" cy="6858000"/>
          </a:xfrm>
          <a:prstGeom prst="rect">
            <a:avLst/>
          </a:prstGeom>
          <a:gradFill>
            <a:gsLst>
              <a:gs pos="0">
                <a:schemeClr val="bg1"/>
              </a:gs>
              <a:gs pos="30000">
                <a:schemeClr val="bg1"/>
              </a:gs>
              <a:gs pos="61000">
                <a:schemeClr val="bg2">
                  <a:lumMod val="20000"/>
                  <a:lumOff val="80000"/>
                </a:schemeClr>
              </a:gs>
              <a:gs pos="97000">
                <a:schemeClr val="bg2">
                  <a:lumMod val="70000"/>
                  <a:lumOff val="30000"/>
                </a:schemeClr>
              </a:gs>
            </a:gsLst>
            <a:path path="circle">
              <a:fillToRect l="50000" t="50000" r="50000" b="50000"/>
            </a:path>
          </a:gradFill>
          <a:ln>
            <a:noFill/>
          </a:ln>
          <a:effectLst>
            <a:innerShdw blurRad="63500" dist="50800" dir="108000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6BCA6E2-A6B8-F011-7726-9586CA04CA13}"/>
              </a:ext>
            </a:extLst>
          </p:cNvPr>
          <p:cNvSpPr>
            <a:spLocks noGrp="1"/>
          </p:cNvSpPr>
          <p:nvPr>
            <p:ph idx="1"/>
          </p:nvPr>
        </p:nvSpPr>
        <p:spPr>
          <a:xfrm>
            <a:off x="3855700" y="469900"/>
            <a:ext cx="4465223" cy="5405968"/>
          </a:xfrm>
        </p:spPr>
        <p:txBody>
          <a:bodyPr anchor="ctr">
            <a:normAutofit fontScale="62500" lnSpcReduction="20000"/>
          </a:bodyPr>
          <a:lstStyle/>
          <a:p>
            <a:r>
              <a:rPr lang="en-US" dirty="0"/>
              <a:t>The </a:t>
            </a:r>
            <a:r>
              <a:rPr lang="en-US" i="1" dirty="0"/>
              <a:t>AI Data Center Moratorium Act of 2026</a:t>
            </a:r>
            <a:r>
              <a:rPr lang="en-US" dirty="0"/>
              <a:t> has direct relevance to the construction industry, particularly in the context of building and expanding data centers. The proposed moratorium on the construction of new AI data centers and the expansion of existing ones, as outlined in the bill by Senator Bernie Sanders and Representative Alexandria Ocasio-Cortez, could have significant implications for construction firms involved in these projects.</a:t>
            </a:r>
          </a:p>
          <a:p>
            <a:r>
              <a:rPr lang="en-US" dirty="0"/>
              <a:t>The construction industry may face delays or cancellations of data center projects, impacting contractors, engineers, and suppliers who rely on this growing sector. These data centers require substantial infrastructure investments, including building materials, electrical and water systems, and specialized facilities. The moratorium could also prompt shifts in regulatory compliance requirements, leading to the need for more sustainable and energy-efficient designs to address environmental concerns. Furthermore, the bill highlights the necessity for balancing technological advancement with environmental and societal considerations, which may lead to new construction standards or the incorporation of green technologies into data center designs.</a:t>
            </a:r>
          </a:p>
          <a:p>
            <a:endParaRPr lang="en-IN" dirty="0"/>
          </a:p>
          <a:p>
            <a:endParaRPr lang="en-US" dirty="0"/>
          </a:p>
        </p:txBody>
      </p:sp>
    </p:spTree>
    <p:extLst>
      <p:ext uri="{BB962C8B-B14F-4D97-AF65-F5344CB8AC3E}">
        <p14:creationId xmlns:p14="http://schemas.microsoft.com/office/powerpoint/2010/main" val="218246748"/>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34</TotalTime>
  <Words>654</Words>
  <Application>Microsoft Office PowerPoint</Application>
  <PresentationFormat>On-screen Show (4:3)</PresentationFormat>
  <Paragraphs>17</Paragraphs>
  <Slides>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Garamond</vt:lpstr>
      <vt:lpstr>Organic</vt:lpstr>
      <vt:lpstr>AI Data Center Moratorium Act 2026</vt:lpstr>
      <vt:lpstr>Screenshot of Headline</vt:lpstr>
      <vt:lpstr>Article Information</vt:lpstr>
      <vt:lpstr>AI Summary Main Findings and Arguments:</vt:lpstr>
      <vt:lpstr>Broader Implications for Society:</vt:lpstr>
      <vt:lpstr>Relevence to construction industry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thipppa reddy</dc:creator>
  <cp:keywords/>
  <dc:description>generated using python-pptx</dc:description>
  <cp:lastModifiedBy>Islam, Majedul</cp:lastModifiedBy>
  <cp:revision>3</cp:revision>
  <dcterms:created xsi:type="dcterms:W3CDTF">2013-01-27T09:14:16Z</dcterms:created>
  <dcterms:modified xsi:type="dcterms:W3CDTF">2026-04-04T04:36:25Z</dcterms:modified>
  <cp:category/>
</cp:coreProperties>
</file>