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CCDAA4-E5A6-47B9-9CF6-57BD7AF4F728}" v="3" dt="2026-03-22T02:52:34.0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58" y="2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riya Budhathoki" userId="059dd2c3a8161ba2" providerId="LiveId" clId="{B5166E12-B5F1-4FDE-A0E5-6F4F0260F79B}"/>
    <pc:docChg chg="undo custSel modSld">
      <pc:chgData name="Meriya Budhathoki" userId="059dd2c3a8161ba2" providerId="LiveId" clId="{B5166E12-B5F1-4FDE-A0E5-6F4F0260F79B}" dt="2026-03-22T02:52:43.313" v="86" actId="20577"/>
      <pc:docMkLst>
        <pc:docMk/>
      </pc:docMkLst>
      <pc:sldChg chg="modSp mod">
        <pc:chgData name="Meriya Budhathoki" userId="059dd2c3a8161ba2" providerId="LiveId" clId="{B5166E12-B5F1-4FDE-A0E5-6F4F0260F79B}" dt="2026-03-22T02:50:58.201" v="48" actId="20577"/>
        <pc:sldMkLst>
          <pc:docMk/>
          <pc:sldMk cId="0" sldId="256"/>
        </pc:sldMkLst>
        <pc:spChg chg="mod">
          <ac:chgData name="Meriya Budhathoki" userId="059dd2c3a8161ba2" providerId="LiveId" clId="{B5166E12-B5F1-4FDE-A0E5-6F4F0260F79B}" dt="2026-03-22T02:50:58.201" v="48" actId="20577"/>
          <ac:spMkLst>
            <pc:docMk/>
            <pc:sldMk cId="0" sldId="256"/>
            <ac:spMk id="6" creationId="{00000000-0000-0000-0000-000000000000}"/>
          </ac:spMkLst>
        </pc:spChg>
      </pc:sldChg>
      <pc:sldChg chg="addSp modSp mod">
        <pc:chgData name="Meriya Budhathoki" userId="059dd2c3a8161ba2" providerId="LiveId" clId="{B5166E12-B5F1-4FDE-A0E5-6F4F0260F79B}" dt="2026-03-22T02:52:43.313" v="86" actId="20577"/>
        <pc:sldMkLst>
          <pc:docMk/>
          <pc:sldMk cId="0" sldId="260"/>
        </pc:sldMkLst>
        <pc:spChg chg="mod">
          <ac:chgData name="Meriya Budhathoki" userId="059dd2c3a8161ba2" providerId="LiveId" clId="{B5166E12-B5F1-4FDE-A0E5-6F4F0260F79B}" dt="2026-03-22T02:52:43.313" v="86" actId="20577"/>
          <ac:spMkLst>
            <pc:docMk/>
            <pc:sldMk cId="0" sldId="260"/>
            <ac:spMk id="7" creationId="{00000000-0000-0000-0000-000000000000}"/>
          </ac:spMkLst>
        </pc:spChg>
        <pc:spChg chg="add mod">
          <ac:chgData name="Meriya Budhathoki" userId="059dd2c3a8161ba2" providerId="LiveId" clId="{B5166E12-B5F1-4FDE-A0E5-6F4F0260F79B}" dt="2026-03-22T02:52:29.058" v="82"/>
          <ac:spMkLst>
            <pc:docMk/>
            <pc:sldMk cId="0" sldId="260"/>
            <ac:spMk id="10" creationId="{AE80849D-D600-E8C6-52F8-F4A03EFC8D2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8745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Business Insider article: Lovable's revenue jumps 33% in a month as vibe coding takes off, Ben Bergman, published March 11, 2026, https://www.businessinsider.com/lovables-hit-400-million-arr-doubling-in-a-few-months-2026-3
- User-provided pasted article text in chat, used for the summary and headline details.
[/Sources]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Business Insider article: Lovable's revenue jumps 33% in a month as vibe coding takes off, Ben Bergman, published March 11, 2026, https://www.businessinsider.com/lovables-hit-400-million-arr-doubling-in-a-few-months-2026-3
- User-provided pasted article text in chat, used for the summary and headline details.
[/Sources]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Business Insider article: Lovable's revenue jumps 33% in a month as vibe coding takes off, Ben Bergman, published March 11, 2026, https://www.businessinsider.com/lovables-hit-400-million-arr-doubling-in-a-few-months-2026-3
- User-provided pasted article text in chat, used for the summary and headline details.
[/Sources]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Business Insider article: Lovable's revenue jumps 33% in a month as vibe coding takes off, Ben Bergman, published March 11, 2026, https://www.businessinsider.com/lovables-hit-400-million-arr-doubling-in-a-few-months-2026-3
- User-provided pasted article text in chat, used for the summary and headline details.
[/Sources]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Business Insider article: Lovable's revenue jumps 33% in a month as vibe coding takes off, Ben Bergman, published March 11, 2026, https://www.businessinsider.com/lovables-hit-400-million-arr-doubling-in-a-few-months-2026-3
- User-provided pasted article text in chat, used for the summary and headline details.
[/Sources]
Interactive discussion prompts are original presentation framing based on the cited article.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1F5AA6"/>
          </a:solidFill>
          <a:ln w="12700">
            <a:solidFill>
              <a:srgbClr val="1F5AA6"/>
            </a:solidFill>
            <a:prstDash val="solid"/>
          </a:ln>
        </p:spPr>
        <p:txBody>
          <a:bodyPr/>
          <a:lstStyle/>
          <a:p>
            <a:endParaRPr lang="en-US"/>
          </a:p>
        </p:txBody>
      </p:sp>
      <p:sp>
        <p:nvSpPr>
          <p:cNvPr id="3" name="Text 1"/>
          <p:cNvSpPr/>
          <p:nvPr/>
        </p:nvSpPr>
        <p:spPr>
          <a:xfrm>
            <a:off x="457200" y="6446520"/>
            <a:ext cx="4846320" cy="201168"/>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Week 10 Digest • Vibe Coding</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businessinsider.com/lovables-hit-400-million-arr-doubling-in-a-few-months-2026-3"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businessinsider.com/lovables-hit-400-million-arr-doubling-in-a-few-months-2026-3"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66928" y="566928"/>
            <a:ext cx="4983480" cy="384048"/>
          </a:xfrm>
          <a:prstGeom prst="roundRect">
            <a:avLst>
              <a:gd name="adj" fmla="val 19048"/>
            </a:avLst>
          </a:prstGeom>
          <a:solidFill>
            <a:srgbClr val="EEF3FA"/>
          </a:solidFill>
          <a:ln w="12700">
            <a:solidFill>
              <a:srgbClr val="EEF3FA"/>
            </a:solidFill>
            <a:prstDash val="solid"/>
          </a:ln>
        </p:spPr>
        <p:txBody>
          <a:bodyPr/>
          <a:lstStyle/>
          <a:p>
            <a:endParaRPr lang="en-US"/>
          </a:p>
        </p:txBody>
      </p:sp>
      <p:sp>
        <p:nvSpPr>
          <p:cNvPr id="3" name="Text 1"/>
          <p:cNvSpPr/>
          <p:nvPr/>
        </p:nvSpPr>
        <p:spPr>
          <a:xfrm>
            <a:off x="749808" y="658368"/>
            <a:ext cx="4389120" cy="164592"/>
          </a:xfrm>
          <a:prstGeom prst="rect">
            <a:avLst/>
          </a:prstGeom>
          <a:noFill/>
          <a:ln/>
        </p:spPr>
        <p:txBody>
          <a:bodyPr wrap="square" rtlCol="0" anchor="ctr"/>
          <a:lstStyle/>
          <a:p>
            <a:pPr marL="0" indent="0">
              <a:buNone/>
            </a:pPr>
            <a:r>
              <a:rPr lang="en-US" sz="1200" b="1" dirty="0">
                <a:solidFill>
                  <a:srgbClr val="1F5AA6"/>
                </a:solidFill>
                <a:latin typeface="Calibri" pitchFamily="34" charset="0"/>
                <a:ea typeface="Calibri" pitchFamily="34" charset="-122"/>
                <a:cs typeface="Calibri" pitchFamily="34" charset="-120"/>
              </a:rPr>
              <a:t>AI on Society • Weekly Digest Presentation</a:t>
            </a:r>
            <a:endParaRPr lang="en-US" sz="1200" dirty="0"/>
          </a:p>
        </p:txBody>
      </p:sp>
      <p:sp>
        <p:nvSpPr>
          <p:cNvPr id="4" name="Text 2"/>
          <p:cNvSpPr/>
          <p:nvPr/>
        </p:nvSpPr>
        <p:spPr>
          <a:xfrm>
            <a:off x="566928" y="1115568"/>
            <a:ext cx="4709160" cy="914400"/>
          </a:xfrm>
          <a:prstGeom prst="rect">
            <a:avLst/>
          </a:prstGeom>
          <a:noFill/>
          <a:ln/>
        </p:spPr>
        <p:txBody>
          <a:bodyPr wrap="square" rtlCol="0" anchor="ctr"/>
          <a:lstStyle/>
          <a:p>
            <a:pPr marL="0" indent="0">
              <a:buNone/>
            </a:pPr>
            <a:r>
              <a:rPr lang="en-US" sz="2700" b="1" dirty="0">
                <a:solidFill>
                  <a:srgbClr val="17202A"/>
                </a:solidFill>
                <a:latin typeface="Calibri" pitchFamily="34" charset="0"/>
                <a:ea typeface="Calibri" pitchFamily="34" charset="-122"/>
                <a:cs typeface="Calibri" pitchFamily="34" charset="-120"/>
              </a:rPr>
              <a:t>Lovable and the rise of vibe coding</a:t>
            </a:r>
            <a:endParaRPr lang="en-US" sz="2700" dirty="0"/>
          </a:p>
        </p:txBody>
      </p:sp>
      <p:sp>
        <p:nvSpPr>
          <p:cNvPr id="5" name="Text 3"/>
          <p:cNvSpPr/>
          <p:nvPr/>
        </p:nvSpPr>
        <p:spPr>
          <a:xfrm>
            <a:off x="585216" y="2148840"/>
            <a:ext cx="4480560" cy="658368"/>
          </a:xfrm>
          <a:prstGeom prst="rect">
            <a:avLst/>
          </a:prstGeom>
          <a:noFill/>
          <a:ln/>
        </p:spPr>
        <p:txBody>
          <a:bodyPr wrap="square" rtlCol="0" anchor="ctr"/>
          <a:lstStyle/>
          <a:p>
            <a:pPr marL="0" indent="0">
              <a:buNone/>
            </a:pPr>
            <a:r>
              <a:rPr lang="en-US" sz="1600" b="1" dirty="0">
                <a:solidFill>
                  <a:srgbClr val="17202A"/>
                </a:solidFill>
                <a:latin typeface="Calibri" pitchFamily="34" charset="0"/>
                <a:ea typeface="Calibri" pitchFamily="34" charset="-122"/>
                <a:cs typeface="Calibri" pitchFamily="34" charset="-120"/>
              </a:rPr>
              <a:t>Article: Lovable's revenue jumps 33% in a month as vibe coding takes off</a:t>
            </a:r>
            <a:endParaRPr lang="en-US" sz="1600" dirty="0"/>
          </a:p>
        </p:txBody>
      </p:sp>
      <p:sp>
        <p:nvSpPr>
          <p:cNvPr id="6" name="Text 4"/>
          <p:cNvSpPr/>
          <p:nvPr/>
        </p:nvSpPr>
        <p:spPr>
          <a:xfrm>
            <a:off x="585216" y="2834640"/>
            <a:ext cx="4480560" cy="685800"/>
          </a:xfrm>
          <a:prstGeom prst="rect">
            <a:avLst/>
          </a:prstGeom>
          <a:noFill/>
          <a:ln/>
        </p:spPr>
        <p:txBody>
          <a:bodyPr wrap="square" rtlCol="0" anchor="ctr"/>
          <a:lstStyle/>
          <a:p>
            <a:pPr marL="0" indent="0">
              <a:buNone/>
            </a:pPr>
            <a:r>
              <a:rPr lang="en-US" sz="1300" dirty="0">
                <a:solidFill>
                  <a:srgbClr val="4B5563"/>
                </a:solidFill>
                <a:latin typeface="Calibri" pitchFamily="34" charset="0"/>
                <a:ea typeface="Calibri" pitchFamily="34" charset="-122"/>
                <a:cs typeface="Calibri" pitchFamily="34" charset="-120"/>
              </a:rPr>
              <a:t>Publication date: March 11, 2026</a:t>
            </a:r>
            <a:endParaRPr lang="en-US" sz="1300" dirty="0"/>
          </a:p>
          <a:p>
            <a:r>
              <a:rPr lang="en-US" sz="1300" dirty="0">
                <a:solidFill>
                  <a:srgbClr val="4B5563"/>
                </a:solidFill>
                <a:latin typeface="Calibri" pitchFamily="34" charset="0"/>
                <a:ea typeface="Calibri" pitchFamily="34" charset="-122"/>
                <a:cs typeface="Calibri" pitchFamily="34" charset="-120"/>
              </a:rPr>
              <a:t>Article #: </a:t>
            </a:r>
            <a:r>
              <a:rPr lang="en-US" sz="1400" dirty="0">
                <a:solidFill>
                  <a:srgbClr val="4B5563"/>
                </a:solidFill>
                <a:latin typeface="Calibri" pitchFamily="34" charset="0"/>
                <a:ea typeface="Calibri" pitchFamily="34" charset="-122"/>
                <a:cs typeface="Calibri" pitchFamily="34" charset="-120"/>
              </a:rPr>
              <a:t>2026-3</a:t>
            </a:r>
            <a:endParaRPr lang="en-US" sz="1300" dirty="0"/>
          </a:p>
        </p:txBody>
      </p:sp>
      <p:sp>
        <p:nvSpPr>
          <p:cNvPr id="7" name="Text 5"/>
          <p:cNvSpPr/>
          <p:nvPr/>
        </p:nvSpPr>
        <p:spPr>
          <a:xfrm>
            <a:off x="585216" y="3703320"/>
            <a:ext cx="2011680" cy="274320"/>
          </a:xfrm>
          <a:prstGeom prst="rect">
            <a:avLst/>
          </a:prstGeom>
          <a:noFill/>
          <a:ln/>
        </p:spPr>
        <p:txBody>
          <a:bodyPr wrap="square" rtlCol="0" anchor="ctr"/>
          <a:lstStyle/>
          <a:p>
            <a:pPr marL="0" indent="0">
              <a:buNone/>
            </a:pPr>
            <a:r>
              <a:rPr lang="en-US" sz="1300" u="sng" dirty="0">
                <a:solidFill>
                  <a:srgbClr val="1F5AA6"/>
                </a:solidFill>
                <a:uFill>
                  <a:solidFill>
                    <a:srgbClr val="1F5AA6"/>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Source link</a:t>
            </a:r>
            <a:endParaRPr lang="en-US" sz="1300" dirty="0"/>
          </a:p>
        </p:txBody>
      </p:sp>
      <p:sp>
        <p:nvSpPr>
          <p:cNvPr id="8" name="Text 6"/>
          <p:cNvSpPr/>
          <p:nvPr/>
        </p:nvSpPr>
        <p:spPr>
          <a:xfrm>
            <a:off x="585216" y="4096512"/>
            <a:ext cx="3017520" cy="274320"/>
          </a:xfrm>
          <a:prstGeom prst="rect">
            <a:avLst/>
          </a:prstGeom>
          <a:noFill/>
          <a:ln/>
        </p:spPr>
        <p:txBody>
          <a:bodyPr wrap="square" rtlCol="0" anchor="ctr"/>
          <a:lstStyle/>
          <a:p>
            <a:pPr marL="0" indent="0">
              <a:buNone/>
            </a:pPr>
            <a:r>
              <a:rPr lang="en-US" sz="1300" dirty="0">
                <a:solidFill>
                  <a:srgbClr val="4B5563"/>
                </a:solidFill>
                <a:latin typeface="Calibri" pitchFamily="34" charset="0"/>
                <a:ea typeface="Calibri" pitchFamily="34" charset="-122"/>
                <a:cs typeface="Calibri" pitchFamily="34" charset="-120"/>
              </a:rPr>
              <a:t>  </a:t>
            </a:r>
            <a:endParaRPr lang="en-US" sz="1300" dirty="0"/>
          </a:p>
        </p:txBody>
      </p:sp>
      <p:sp>
        <p:nvSpPr>
          <p:cNvPr id="9" name="Shape 7"/>
          <p:cNvSpPr/>
          <p:nvPr/>
        </p:nvSpPr>
        <p:spPr>
          <a:xfrm>
            <a:off x="5596128" y="685800"/>
            <a:ext cx="5961888" cy="5166360"/>
          </a:xfrm>
          <a:prstGeom prst="roundRect">
            <a:avLst>
              <a:gd name="adj" fmla="val 1416"/>
            </a:avLst>
          </a:prstGeom>
          <a:solidFill>
            <a:srgbClr val="FFFFFF"/>
          </a:solidFill>
          <a:ln w="12700">
            <a:solidFill>
              <a:srgbClr val="DCE7F6"/>
            </a:solidFill>
            <a:prstDash val="solid"/>
          </a:ln>
          <a:effectLst>
            <a:outerShdw blurRad="19050" dist="12700" dir="2700000" algn="bl" rotWithShape="0">
              <a:srgbClr val="000000">
                <a:alpha val="12000"/>
              </a:srgbClr>
            </a:outerShdw>
          </a:effectLst>
        </p:spPr>
        <p:txBody>
          <a:bodyPr/>
          <a:lstStyle/>
          <a:p>
            <a:endParaRPr lang="en-US"/>
          </a:p>
        </p:txBody>
      </p:sp>
      <p:pic>
        <p:nvPicPr>
          <p:cNvPr id="10" name="Image 0" descr="/mnt/data/vibe_assignment/headline_mock.png"/>
          <p:cNvPicPr>
            <a:picLocks noChangeAspect="1"/>
          </p:cNvPicPr>
          <p:nvPr/>
        </p:nvPicPr>
        <p:blipFill>
          <a:blip r:embed="rId4"/>
          <a:srcRect l="17214" r="17214"/>
          <a:stretch/>
        </p:blipFill>
        <p:spPr>
          <a:xfrm>
            <a:off x="5779008" y="868680"/>
            <a:ext cx="5596128" cy="4800600"/>
          </a:xfrm>
          <a:prstGeom prst="rect">
            <a:avLst/>
          </a:prstGeom>
        </p:spPr>
      </p:pic>
      <p:sp>
        <p:nvSpPr>
          <p:cNvPr id="11" name="Text 8"/>
          <p:cNvSpPr/>
          <p:nvPr/>
        </p:nvSpPr>
        <p:spPr>
          <a:xfrm>
            <a:off x="11384280" y="6400800"/>
            <a:ext cx="274320" cy="18288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93192"/>
            <a:ext cx="6949440" cy="420624"/>
          </a:xfrm>
          <a:prstGeom prst="rect">
            <a:avLst/>
          </a:prstGeom>
          <a:noFill/>
          <a:ln/>
        </p:spPr>
        <p:txBody>
          <a:bodyPr wrap="square" rtlCol="0" anchor="ctr"/>
          <a:lstStyle/>
          <a:p>
            <a:pPr marL="0" indent="0">
              <a:buNone/>
            </a:pPr>
            <a:r>
              <a:rPr lang="en-US" sz="2600" b="1" dirty="0">
                <a:solidFill>
                  <a:srgbClr val="17202A"/>
                </a:solidFill>
                <a:latin typeface="Calibri" pitchFamily="34" charset="0"/>
                <a:ea typeface="Calibri" pitchFamily="34" charset="-122"/>
                <a:cs typeface="Calibri" pitchFamily="34" charset="-120"/>
              </a:rPr>
              <a:t>AI-generated summary: main findings and arguments</a:t>
            </a:r>
            <a:endParaRPr lang="en-US" sz="2600" dirty="0"/>
          </a:p>
        </p:txBody>
      </p:sp>
      <p:sp>
        <p:nvSpPr>
          <p:cNvPr id="3" name="Text 1"/>
          <p:cNvSpPr/>
          <p:nvPr/>
        </p:nvSpPr>
        <p:spPr>
          <a:xfrm>
            <a:off x="585216" y="896112"/>
            <a:ext cx="7680960" cy="182880"/>
          </a:xfrm>
          <a:prstGeom prst="rect">
            <a:avLst/>
          </a:prstGeom>
          <a:noFill/>
          <a:ln/>
        </p:spPr>
        <p:txBody>
          <a:bodyPr wrap="square" rtlCol="0" anchor="ctr"/>
          <a:lstStyle/>
          <a:p>
            <a:pPr marL="0" indent="0">
              <a:buNone/>
            </a:pPr>
            <a:r>
              <a:rPr lang="en-US" sz="1150" dirty="0">
                <a:solidFill>
                  <a:srgbClr val="4B5563"/>
                </a:solidFill>
                <a:latin typeface="Calibri" pitchFamily="34" charset="0"/>
                <a:ea typeface="Calibri" pitchFamily="34" charset="-122"/>
                <a:cs typeface="Calibri" pitchFamily="34" charset="-120"/>
              </a:rPr>
              <a:t>Submitted exactly as generated for class use</a:t>
            </a:r>
            <a:endParaRPr lang="en-US" sz="1150" dirty="0"/>
          </a:p>
        </p:txBody>
      </p:sp>
      <p:sp>
        <p:nvSpPr>
          <p:cNvPr id="4" name="Shape 2"/>
          <p:cNvSpPr/>
          <p:nvPr/>
        </p:nvSpPr>
        <p:spPr>
          <a:xfrm>
            <a:off x="566928" y="1298448"/>
            <a:ext cx="7114032" cy="4023360"/>
          </a:xfrm>
          <a:prstGeom prst="roundRect">
            <a:avLst>
              <a:gd name="adj" fmla="val 1818"/>
            </a:avLst>
          </a:prstGeom>
          <a:solidFill>
            <a:srgbClr val="FFFFFF"/>
          </a:solidFill>
          <a:ln w="12700">
            <a:solidFill>
              <a:srgbClr val="DCE7F6"/>
            </a:solidFill>
            <a:prstDash val="solid"/>
          </a:ln>
        </p:spPr>
        <p:txBody>
          <a:bodyPr/>
          <a:lstStyle/>
          <a:p>
            <a:endParaRPr lang="en-US"/>
          </a:p>
        </p:txBody>
      </p:sp>
      <p:sp>
        <p:nvSpPr>
          <p:cNvPr id="5" name="Text 3"/>
          <p:cNvSpPr/>
          <p:nvPr/>
        </p:nvSpPr>
        <p:spPr>
          <a:xfrm>
            <a:off x="822960" y="1572768"/>
            <a:ext cx="6565392" cy="3493008"/>
          </a:xfrm>
          <a:prstGeom prst="rect">
            <a:avLst/>
          </a:prstGeom>
          <a:noFill/>
          <a:ln/>
        </p:spPr>
        <p:txBody>
          <a:bodyPr wrap="square" lIns="762" tIns="762" rIns="762" bIns="762" rtlCol="0" anchor="ctr"/>
          <a:lstStyle/>
          <a:p>
            <a:pPr marL="0" indent="0">
              <a:buNone/>
            </a:pPr>
            <a:r>
              <a:rPr lang="en-US" sz="1800" dirty="0">
                <a:solidFill>
                  <a:srgbClr val="17202A"/>
                </a:solidFill>
                <a:latin typeface="Calibri" pitchFamily="34" charset="0"/>
                <a:ea typeface="Calibri" pitchFamily="34" charset="-122"/>
                <a:cs typeface="Calibri" pitchFamily="34" charset="-120"/>
              </a:rPr>
              <a:t>This article argues that vibe coding—using AI tools to let non-engineers generate software from prompts—is moving from experimentation into a fast-growing business category. The main evidence is Lovable’s jump from $300 million to $400 million in annual recurring revenue in one month, along with 200,000 new projects being created daily and plans to grow from 146 to about 350 employees. The article also argues that the market is expanding rather than becoming winner-take-all, because Lovable says many users pair its product with Anthropic’s Claude Code instead of choosing only one tool.</a:t>
            </a:r>
            <a:endParaRPr lang="en-US" sz="1800" dirty="0"/>
          </a:p>
        </p:txBody>
      </p:sp>
      <p:sp>
        <p:nvSpPr>
          <p:cNvPr id="6" name="Shape 4"/>
          <p:cNvSpPr/>
          <p:nvPr/>
        </p:nvSpPr>
        <p:spPr>
          <a:xfrm>
            <a:off x="7845552" y="1417320"/>
            <a:ext cx="1335024" cy="1005840"/>
          </a:xfrm>
          <a:prstGeom prst="roundRect">
            <a:avLst>
              <a:gd name="adj" fmla="val 4545"/>
            </a:avLst>
          </a:prstGeom>
          <a:solidFill>
            <a:srgbClr val="FFFFFF"/>
          </a:solidFill>
          <a:ln w="12700">
            <a:solidFill>
              <a:srgbClr val="DCE7F6"/>
            </a:solidFill>
            <a:prstDash val="solid"/>
          </a:ln>
        </p:spPr>
        <p:txBody>
          <a:bodyPr/>
          <a:lstStyle/>
          <a:p>
            <a:endParaRPr lang="en-US"/>
          </a:p>
        </p:txBody>
      </p:sp>
      <p:sp>
        <p:nvSpPr>
          <p:cNvPr id="7" name="Text 5"/>
          <p:cNvSpPr/>
          <p:nvPr/>
        </p:nvSpPr>
        <p:spPr>
          <a:xfrm>
            <a:off x="7918704" y="1600200"/>
            <a:ext cx="1170432" cy="256032"/>
          </a:xfrm>
          <a:prstGeom prst="rect">
            <a:avLst/>
          </a:prstGeom>
          <a:noFill/>
          <a:ln/>
        </p:spPr>
        <p:txBody>
          <a:bodyPr wrap="square" rtlCol="0" anchor="ctr"/>
          <a:lstStyle/>
          <a:p>
            <a:pPr marL="0" indent="0" algn="ctr">
              <a:buNone/>
            </a:pPr>
            <a:r>
              <a:rPr lang="en-US" sz="2100" b="1" dirty="0">
                <a:solidFill>
                  <a:srgbClr val="1F5AA6"/>
                </a:solidFill>
                <a:latin typeface="Calibri" pitchFamily="34" charset="0"/>
                <a:ea typeface="Calibri" pitchFamily="34" charset="-122"/>
                <a:cs typeface="Calibri" pitchFamily="34" charset="-120"/>
              </a:rPr>
              <a:t>33%</a:t>
            </a:r>
            <a:endParaRPr lang="en-US" sz="2100" dirty="0"/>
          </a:p>
        </p:txBody>
      </p:sp>
      <p:sp>
        <p:nvSpPr>
          <p:cNvPr id="8" name="Text 6"/>
          <p:cNvSpPr/>
          <p:nvPr/>
        </p:nvSpPr>
        <p:spPr>
          <a:xfrm>
            <a:off x="7909560" y="1938528"/>
            <a:ext cx="1207008" cy="320040"/>
          </a:xfrm>
          <a:prstGeom prst="rect">
            <a:avLst/>
          </a:prstGeom>
          <a:noFill/>
          <a:ln/>
        </p:spPr>
        <p:txBody>
          <a:bodyPr wrap="square" rtlCol="0" anchor="ctr"/>
          <a:lstStyle/>
          <a:p>
            <a:pPr marL="0" indent="0" algn="ctr">
              <a:buNone/>
            </a:pPr>
            <a:r>
              <a:rPr lang="en-US" sz="1000" dirty="0">
                <a:solidFill>
                  <a:srgbClr val="4B5563"/>
                </a:solidFill>
                <a:latin typeface="Calibri" pitchFamily="34" charset="0"/>
                <a:ea typeface="Calibri" pitchFamily="34" charset="-122"/>
                <a:cs typeface="Calibri" pitchFamily="34" charset="-120"/>
              </a:rPr>
              <a:t>one-month ARR growth</a:t>
            </a:r>
            <a:endParaRPr lang="en-US" sz="1000" dirty="0"/>
          </a:p>
        </p:txBody>
      </p:sp>
      <p:sp>
        <p:nvSpPr>
          <p:cNvPr id="9" name="Shape 7"/>
          <p:cNvSpPr/>
          <p:nvPr/>
        </p:nvSpPr>
        <p:spPr>
          <a:xfrm>
            <a:off x="9326880" y="1417320"/>
            <a:ext cx="1335024" cy="1005840"/>
          </a:xfrm>
          <a:prstGeom prst="roundRect">
            <a:avLst>
              <a:gd name="adj" fmla="val 4545"/>
            </a:avLst>
          </a:prstGeom>
          <a:solidFill>
            <a:srgbClr val="FFFFFF"/>
          </a:solidFill>
          <a:ln w="12700">
            <a:solidFill>
              <a:srgbClr val="DCE7F6"/>
            </a:solidFill>
            <a:prstDash val="solid"/>
          </a:ln>
        </p:spPr>
        <p:txBody>
          <a:bodyPr/>
          <a:lstStyle/>
          <a:p>
            <a:endParaRPr lang="en-US"/>
          </a:p>
        </p:txBody>
      </p:sp>
      <p:sp>
        <p:nvSpPr>
          <p:cNvPr id="10" name="Text 8"/>
          <p:cNvSpPr/>
          <p:nvPr/>
        </p:nvSpPr>
        <p:spPr>
          <a:xfrm>
            <a:off x="9400032" y="1600200"/>
            <a:ext cx="1170432" cy="256032"/>
          </a:xfrm>
          <a:prstGeom prst="rect">
            <a:avLst/>
          </a:prstGeom>
          <a:noFill/>
          <a:ln/>
        </p:spPr>
        <p:txBody>
          <a:bodyPr wrap="square" rtlCol="0" anchor="ctr"/>
          <a:lstStyle/>
          <a:p>
            <a:pPr marL="0" indent="0" algn="ctr">
              <a:buNone/>
            </a:pPr>
            <a:r>
              <a:rPr lang="en-US" sz="2100" b="1" dirty="0">
                <a:solidFill>
                  <a:srgbClr val="1F5AA6"/>
                </a:solidFill>
                <a:latin typeface="Calibri" pitchFamily="34" charset="0"/>
                <a:ea typeface="Calibri" pitchFamily="34" charset="-122"/>
                <a:cs typeface="Calibri" pitchFamily="34" charset="-120"/>
              </a:rPr>
              <a:t>$400M</a:t>
            </a:r>
            <a:endParaRPr lang="en-US" sz="2100" dirty="0"/>
          </a:p>
        </p:txBody>
      </p:sp>
      <p:sp>
        <p:nvSpPr>
          <p:cNvPr id="11" name="Text 9"/>
          <p:cNvSpPr/>
          <p:nvPr/>
        </p:nvSpPr>
        <p:spPr>
          <a:xfrm>
            <a:off x="9390888" y="1938528"/>
            <a:ext cx="1207008" cy="320040"/>
          </a:xfrm>
          <a:prstGeom prst="rect">
            <a:avLst/>
          </a:prstGeom>
          <a:noFill/>
          <a:ln/>
        </p:spPr>
        <p:txBody>
          <a:bodyPr wrap="square" rtlCol="0" anchor="ctr"/>
          <a:lstStyle/>
          <a:p>
            <a:pPr marL="0" indent="0" algn="ctr">
              <a:buNone/>
            </a:pPr>
            <a:r>
              <a:rPr lang="en-US" sz="1000" dirty="0">
                <a:solidFill>
                  <a:srgbClr val="4B5563"/>
                </a:solidFill>
                <a:latin typeface="Calibri" pitchFamily="34" charset="0"/>
                <a:ea typeface="Calibri" pitchFamily="34" charset="-122"/>
                <a:cs typeface="Calibri" pitchFamily="34" charset="-120"/>
              </a:rPr>
              <a:t>annual recurring revenue</a:t>
            </a:r>
            <a:endParaRPr lang="en-US" sz="1000" dirty="0"/>
          </a:p>
        </p:txBody>
      </p:sp>
      <p:sp>
        <p:nvSpPr>
          <p:cNvPr id="12" name="Shape 10"/>
          <p:cNvSpPr/>
          <p:nvPr/>
        </p:nvSpPr>
        <p:spPr>
          <a:xfrm>
            <a:off x="10808208" y="1417320"/>
            <a:ext cx="1335024" cy="1005840"/>
          </a:xfrm>
          <a:prstGeom prst="roundRect">
            <a:avLst>
              <a:gd name="adj" fmla="val 4545"/>
            </a:avLst>
          </a:prstGeom>
          <a:solidFill>
            <a:srgbClr val="FFFFFF"/>
          </a:solidFill>
          <a:ln w="12700">
            <a:solidFill>
              <a:srgbClr val="DCE7F6"/>
            </a:solidFill>
            <a:prstDash val="solid"/>
          </a:ln>
        </p:spPr>
        <p:txBody>
          <a:bodyPr/>
          <a:lstStyle/>
          <a:p>
            <a:endParaRPr lang="en-US"/>
          </a:p>
        </p:txBody>
      </p:sp>
      <p:sp>
        <p:nvSpPr>
          <p:cNvPr id="13" name="Text 11"/>
          <p:cNvSpPr/>
          <p:nvPr/>
        </p:nvSpPr>
        <p:spPr>
          <a:xfrm>
            <a:off x="10881360" y="1600200"/>
            <a:ext cx="1170432" cy="256032"/>
          </a:xfrm>
          <a:prstGeom prst="rect">
            <a:avLst/>
          </a:prstGeom>
          <a:noFill/>
          <a:ln/>
        </p:spPr>
        <p:txBody>
          <a:bodyPr wrap="square" rtlCol="0" anchor="ctr"/>
          <a:lstStyle/>
          <a:p>
            <a:pPr marL="0" indent="0" algn="ctr">
              <a:buNone/>
            </a:pPr>
            <a:r>
              <a:rPr lang="en-US" sz="2100" b="1" dirty="0">
                <a:solidFill>
                  <a:srgbClr val="1F5AA6"/>
                </a:solidFill>
                <a:latin typeface="Calibri" pitchFamily="34" charset="0"/>
                <a:ea typeface="Calibri" pitchFamily="34" charset="-122"/>
                <a:cs typeface="Calibri" pitchFamily="34" charset="-120"/>
              </a:rPr>
              <a:t>200K</a:t>
            </a:r>
            <a:endParaRPr lang="en-US" sz="2100" dirty="0"/>
          </a:p>
        </p:txBody>
      </p:sp>
      <p:sp>
        <p:nvSpPr>
          <p:cNvPr id="14" name="Text 12"/>
          <p:cNvSpPr/>
          <p:nvPr/>
        </p:nvSpPr>
        <p:spPr>
          <a:xfrm>
            <a:off x="10872216" y="1938528"/>
            <a:ext cx="1207008" cy="320040"/>
          </a:xfrm>
          <a:prstGeom prst="rect">
            <a:avLst/>
          </a:prstGeom>
          <a:noFill/>
          <a:ln/>
        </p:spPr>
        <p:txBody>
          <a:bodyPr wrap="square" rtlCol="0" anchor="ctr"/>
          <a:lstStyle/>
          <a:p>
            <a:pPr marL="0" indent="0" algn="ctr">
              <a:buNone/>
            </a:pPr>
            <a:r>
              <a:rPr lang="en-US" sz="1000" dirty="0">
                <a:solidFill>
                  <a:srgbClr val="4B5563"/>
                </a:solidFill>
                <a:latin typeface="Calibri" pitchFamily="34" charset="0"/>
                <a:ea typeface="Calibri" pitchFamily="34" charset="-122"/>
                <a:cs typeface="Calibri" pitchFamily="34" charset="-120"/>
              </a:rPr>
              <a:t>new projects created daily</a:t>
            </a:r>
            <a:endParaRPr lang="en-US" sz="1000" dirty="0"/>
          </a:p>
        </p:txBody>
      </p:sp>
      <p:sp>
        <p:nvSpPr>
          <p:cNvPr id="15" name="Shape 13"/>
          <p:cNvSpPr/>
          <p:nvPr/>
        </p:nvSpPr>
        <p:spPr>
          <a:xfrm>
            <a:off x="7845552" y="2788920"/>
            <a:ext cx="2999232" cy="2011680"/>
          </a:xfrm>
          <a:prstGeom prst="roundRect">
            <a:avLst>
              <a:gd name="adj" fmla="val 2727"/>
            </a:avLst>
          </a:prstGeom>
          <a:solidFill>
            <a:srgbClr val="EEF3FA"/>
          </a:solidFill>
          <a:ln w="12700">
            <a:solidFill>
              <a:srgbClr val="EEF3FA"/>
            </a:solidFill>
            <a:prstDash val="solid"/>
          </a:ln>
        </p:spPr>
        <p:txBody>
          <a:bodyPr/>
          <a:lstStyle/>
          <a:p>
            <a:endParaRPr lang="en-US"/>
          </a:p>
        </p:txBody>
      </p:sp>
      <p:sp>
        <p:nvSpPr>
          <p:cNvPr id="16" name="Text 14"/>
          <p:cNvSpPr/>
          <p:nvPr/>
        </p:nvSpPr>
        <p:spPr>
          <a:xfrm>
            <a:off x="8055864" y="2999232"/>
            <a:ext cx="1828800" cy="228600"/>
          </a:xfrm>
          <a:prstGeom prst="rect">
            <a:avLst/>
          </a:prstGeom>
          <a:noFill/>
          <a:ln/>
        </p:spPr>
        <p:txBody>
          <a:bodyPr wrap="square" rtlCol="0" anchor="ctr"/>
          <a:lstStyle/>
          <a:p>
            <a:pPr marL="0" indent="0">
              <a:buNone/>
            </a:pPr>
            <a:r>
              <a:rPr lang="en-US" sz="1400" b="1" dirty="0">
                <a:solidFill>
                  <a:srgbClr val="1F5AA6"/>
                </a:solidFill>
                <a:latin typeface="Calibri" pitchFamily="34" charset="0"/>
                <a:ea typeface="Calibri" pitchFamily="34" charset="-122"/>
                <a:cs typeface="Calibri" pitchFamily="34" charset="-120"/>
              </a:rPr>
              <a:t>Key takeaway</a:t>
            </a:r>
            <a:endParaRPr lang="en-US" sz="1400" dirty="0"/>
          </a:p>
        </p:txBody>
      </p:sp>
      <p:sp>
        <p:nvSpPr>
          <p:cNvPr id="17" name="Text 15"/>
          <p:cNvSpPr/>
          <p:nvPr/>
        </p:nvSpPr>
        <p:spPr>
          <a:xfrm>
            <a:off x="8055864" y="3310128"/>
            <a:ext cx="2542032" cy="1143000"/>
          </a:xfrm>
          <a:prstGeom prst="rect">
            <a:avLst/>
          </a:prstGeom>
          <a:noFill/>
          <a:ln/>
        </p:spPr>
        <p:txBody>
          <a:bodyPr wrap="square" rtlCol="0" anchor="ctr"/>
          <a:lstStyle/>
          <a:p>
            <a:pPr marL="0" indent="0">
              <a:buNone/>
            </a:pPr>
            <a:r>
              <a:rPr lang="en-US" sz="1450" dirty="0">
                <a:solidFill>
                  <a:srgbClr val="17202A"/>
                </a:solidFill>
                <a:latin typeface="Calibri" pitchFamily="34" charset="0"/>
                <a:ea typeface="Calibri" pitchFamily="34" charset="-122"/>
                <a:cs typeface="Calibri" pitchFamily="34" charset="-120"/>
              </a:rPr>
              <a:t>The article frames vibe coding as a fast-scaling category where AI tools are broadening who can build software, not just making existing engineers faster.</a:t>
            </a:r>
            <a:endParaRPr lang="en-US" sz="1450" dirty="0"/>
          </a:p>
        </p:txBody>
      </p:sp>
      <p:sp>
        <p:nvSpPr>
          <p:cNvPr id="18" name="Text 16"/>
          <p:cNvSpPr/>
          <p:nvPr/>
        </p:nvSpPr>
        <p:spPr>
          <a:xfrm>
            <a:off x="11384280" y="6400800"/>
            <a:ext cx="274320" cy="18288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93192"/>
            <a:ext cx="6949440" cy="420624"/>
          </a:xfrm>
          <a:prstGeom prst="rect">
            <a:avLst/>
          </a:prstGeom>
          <a:noFill/>
          <a:ln/>
        </p:spPr>
        <p:txBody>
          <a:bodyPr wrap="square" rtlCol="0" anchor="ctr"/>
          <a:lstStyle/>
          <a:p>
            <a:pPr marL="0" indent="0">
              <a:buNone/>
            </a:pPr>
            <a:r>
              <a:rPr lang="en-US" sz="2600" b="1" dirty="0">
                <a:solidFill>
                  <a:srgbClr val="17202A"/>
                </a:solidFill>
                <a:latin typeface="Calibri" pitchFamily="34" charset="0"/>
                <a:ea typeface="Calibri" pitchFamily="34" charset="-122"/>
                <a:cs typeface="Calibri" pitchFamily="34" charset="-120"/>
              </a:rPr>
              <a:t>AI-generated summary: broader implications for society</a:t>
            </a:r>
            <a:endParaRPr lang="en-US" sz="2600" dirty="0"/>
          </a:p>
        </p:txBody>
      </p:sp>
      <p:sp>
        <p:nvSpPr>
          <p:cNvPr id="3" name="Shape 1"/>
          <p:cNvSpPr/>
          <p:nvPr/>
        </p:nvSpPr>
        <p:spPr>
          <a:xfrm>
            <a:off x="566928" y="1371600"/>
            <a:ext cx="5577840" cy="4526280"/>
          </a:xfrm>
          <a:prstGeom prst="roundRect">
            <a:avLst>
              <a:gd name="adj" fmla="val 1616"/>
            </a:avLst>
          </a:prstGeom>
          <a:solidFill>
            <a:srgbClr val="FFFFFF"/>
          </a:solidFill>
          <a:ln w="12700">
            <a:solidFill>
              <a:srgbClr val="DCE7F6"/>
            </a:solidFill>
            <a:prstDash val="solid"/>
          </a:ln>
        </p:spPr>
        <p:txBody>
          <a:bodyPr/>
          <a:lstStyle/>
          <a:p>
            <a:endParaRPr lang="en-US"/>
          </a:p>
        </p:txBody>
      </p:sp>
      <p:sp>
        <p:nvSpPr>
          <p:cNvPr id="4" name="Text 2"/>
          <p:cNvSpPr/>
          <p:nvPr/>
        </p:nvSpPr>
        <p:spPr>
          <a:xfrm>
            <a:off x="841248" y="1664208"/>
            <a:ext cx="5047488" cy="3886200"/>
          </a:xfrm>
          <a:prstGeom prst="rect">
            <a:avLst/>
          </a:prstGeom>
          <a:noFill/>
          <a:ln/>
        </p:spPr>
        <p:txBody>
          <a:bodyPr wrap="square" lIns="762" tIns="762" rIns="762" bIns="762" rtlCol="0" anchor="ctr"/>
          <a:lstStyle/>
          <a:p>
            <a:pPr marL="0" indent="0">
              <a:buNone/>
            </a:pPr>
            <a:r>
              <a:rPr lang="en-US" sz="1800" dirty="0">
                <a:solidFill>
                  <a:srgbClr val="17202A"/>
                </a:solidFill>
                <a:latin typeface="Calibri" pitchFamily="34" charset="0"/>
                <a:ea typeface="Calibri" pitchFamily="34" charset="-122"/>
                <a:cs typeface="Calibri" pitchFamily="34" charset="-120"/>
              </a:rPr>
              <a:t>The broader implication for society is that AI is lowering the barrier to software creation and shifting who can participate in digital production. If nontechnical founders, entrepreneurs, and office workers can build applications with AI assistance, innovation could become more distributed across society instead of staying concentrated in traditional engineering teams. At the same time, the article suggests a changing labor market in which AI fluency, product thinking, and the ability to work with automated tools may become more valuable, while organizations restructure hiring around these new capabilities.</a:t>
            </a:r>
            <a:endParaRPr lang="en-US" sz="1800" dirty="0"/>
          </a:p>
        </p:txBody>
      </p:sp>
      <p:sp>
        <p:nvSpPr>
          <p:cNvPr id="5" name="Shape 3"/>
          <p:cNvSpPr/>
          <p:nvPr/>
        </p:nvSpPr>
        <p:spPr>
          <a:xfrm>
            <a:off x="6400800" y="1371600"/>
            <a:ext cx="5230368" cy="1325880"/>
          </a:xfrm>
          <a:prstGeom prst="roundRect">
            <a:avLst>
              <a:gd name="adj" fmla="val 4138"/>
            </a:avLst>
          </a:prstGeom>
          <a:solidFill>
            <a:srgbClr val="EEF3FA"/>
          </a:solidFill>
          <a:ln w="12700">
            <a:solidFill>
              <a:srgbClr val="EEF3FA"/>
            </a:solidFill>
            <a:prstDash val="solid"/>
          </a:ln>
        </p:spPr>
        <p:txBody>
          <a:bodyPr/>
          <a:lstStyle/>
          <a:p>
            <a:endParaRPr lang="en-US"/>
          </a:p>
        </p:txBody>
      </p:sp>
      <p:sp>
        <p:nvSpPr>
          <p:cNvPr id="6" name="Text 4"/>
          <p:cNvSpPr/>
          <p:nvPr/>
        </p:nvSpPr>
        <p:spPr>
          <a:xfrm>
            <a:off x="6629400" y="1673352"/>
            <a:ext cx="4754880" cy="228600"/>
          </a:xfrm>
          <a:prstGeom prst="rect">
            <a:avLst/>
          </a:prstGeom>
          <a:noFill/>
          <a:ln/>
        </p:spPr>
        <p:txBody>
          <a:bodyPr wrap="square" rtlCol="0" anchor="ctr"/>
          <a:lstStyle/>
          <a:p>
            <a:pPr marL="0" indent="0">
              <a:buNone/>
            </a:pPr>
            <a:r>
              <a:rPr lang="en-US" sz="2000" b="1" dirty="0">
                <a:solidFill>
                  <a:srgbClr val="1F5AA6"/>
                </a:solidFill>
                <a:latin typeface="Calibri" pitchFamily="34" charset="0"/>
                <a:ea typeface="Calibri" pitchFamily="34" charset="-122"/>
                <a:cs typeface="Calibri" pitchFamily="34" charset="-120"/>
              </a:rPr>
              <a:t>Barrier to entry falls</a:t>
            </a:r>
            <a:endParaRPr lang="en-US" sz="2000" dirty="0"/>
          </a:p>
        </p:txBody>
      </p:sp>
      <p:sp>
        <p:nvSpPr>
          <p:cNvPr id="7" name="Text 5"/>
          <p:cNvSpPr/>
          <p:nvPr/>
        </p:nvSpPr>
        <p:spPr>
          <a:xfrm>
            <a:off x="6629400" y="1975104"/>
            <a:ext cx="4617720" cy="365760"/>
          </a:xfrm>
          <a:prstGeom prst="rect">
            <a:avLst/>
          </a:prstGeom>
          <a:noFill/>
          <a:ln/>
        </p:spPr>
        <p:txBody>
          <a:bodyPr wrap="square" rtlCol="0" anchor="ctr"/>
          <a:lstStyle/>
          <a:p>
            <a:pPr marL="0" indent="0">
              <a:buNone/>
            </a:pPr>
            <a:r>
              <a:rPr lang="en-US" sz="1500" dirty="0">
                <a:solidFill>
                  <a:srgbClr val="17202A"/>
                </a:solidFill>
                <a:latin typeface="Calibri" pitchFamily="34" charset="0"/>
                <a:ea typeface="Calibri" pitchFamily="34" charset="-122"/>
                <a:cs typeface="Calibri" pitchFamily="34" charset="-120"/>
              </a:rPr>
              <a:t>Nontechnical users can participate more directly in software creation.</a:t>
            </a:r>
            <a:endParaRPr lang="en-US" sz="1500" dirty="0"/>
          </a:p>
        </p:txBody>
      </p:sp>
      <p:sp>
        <p:nvSpPr>
          <p:cNvPr id="8" name="Shape 6"/>
          <p:cNvSpPr/>
          <p:nvPr/>
        </p:nvSpPr>
        <p:spPr>
          <a:xfrm>
            <a:off x="6400800" y="2926080"/>
            <a:ext cx="5230368" cy="1325880"/>
          </a:xfrm>
          <a:prstGeom prst="roundRect">
            <a:avLst>
              <a:gd name="adj" fmla="val 4138"/>
            </a:avLst>
          </a:prstGeom>
          <a:solidFill>
            <a:srgbClr val="FFFFFF"/>
          </a:solidFill>
          <a:ln w="12700">
            <a:solidFill>
              <a:srgbClr val="DCE7F6"/>
            </a:solidFill>
            <a:prstDash val="solid"/>
          </a:ln>
        </p:spPr>
        <p:txBody>
          <a:bodyPr/>
          <a:lstStyle/>
          <a:p>
            <a:endParaRPr lang="en-US"/>
          </a:p>
        </p:txBody>
      </p:sp>
      <p:sp>
        <p:nvSpPr>
          <p:cNvPr id="9" name="Text 7"/>
          <p:cNvSpPr/>
          <p:nvPr/>
        </p:nvSpPr>
        <p:spPr>
          <a:xfrm>
            <a:off x="6629400" y="3227832"/>
            <a:ext cx="4754880" cy="228600"/>
          </a:xfrm>
          <a:prstGeom prst="rect">
            <a:avLst/>
          </a:prstGeom>
          <a:noFill/>
          <a:ln/>
        </p:spPr>
        <p:txBody>
          <a:bodyPr wrap="square" rtlCol="0" anchor="ctr"/>
          <a:lstStyle/>
          <a:p>
            <a:pPr marL="0" indent="0">
              <a:buNone/>
            </a:pPr>
            <a:r>
              <a:rPr lang="en-US" sz="2000" b="1" dirty="0">
                <a:solidFill>
                  <a:srgbClr val="1F5AA6"/>
                </a:solidFill>
                <a:latin typeface="Calibri" pitchFamily="34" charset="0"/>
                <a:ea typeface="Calibri" pitchFamily="34" charset="-122"/>
                <a:cs typeface="Calibri" pitchFamily="34" charset="-120"/>
              </a:rPr>
              <a:t>Work roles shift</a:t>
            </a:r>
            <a:endParaRPr lang="en-US" sz="2000" dirty="0"/>
          </a:p>
        </p:txBody>
      </p:sp>
      <p:sp>
        <p:nvSpPr>
          <p:cNvPr id="10" name="Text 8"/>
          <p:cNvSpPr/>
          <p:nvPr/>
        </p:nvSpPr>
        <p:spPr>
          <a:xfrm>
            <a:off x="6629400" y="3529584"/>
            <a:ext cx="4617720" cy="384048"/>
          </a:xfrm>
          <a:prstGeom prst="rect">
            <a:avLst/>
          </a:prstGeom>
          <a:noFill/>
          <a:ln/>
        </p:spPr>
        <p:txBody>
          <a:bodyPr wrap="square" rtlCol="0" anchor="ctr"/>
          <a:lstStyle/>
          <a:p>
            <a:pPr marL="0" indent="0">
              <a:buNone/>
            </a:pPr>
            <a:r>
              <a:rPr lang="en-US" sz="1500" dirty="0">
                <a:solidFill>
                  <a:srgbClr val="17202A"/>
                </a:solidFill>
                <a:latin typeface="Calibri" pitchFamily="34" charset="0"/>
                <a:ea typeface="Calibri" pitchFamily="34" charset="-122"/>
                <a:cs typeface="Calibri" pitchFamily="34" charset="-120"/>
              </a:rPr>
              <a:t>AI fluency, judgment, and workflow design become more valuable alongside technical skill.</a:t>
            </a:r>
            <a:endParaRPr lang="en-US" sz="1500" dirty="0"/>
          </a:p>
        </p:txBody>
      </p:sp>
      <p:sp>
        <p:nvSpPr>
          <p:cNvPr id="11" name="Shape 9"/>
          <p:cNvSpPr/>
          <p:nvPr/>
        </p:nvSpPr>
        <p:spPr>
          <a:xfrm>
            <a:off x="6400800" y="4480560"/>
            <a:ext cx="5230368" cy="1325880"/>
          </a:xfrm>
          <a:prstGeom prst="roundRect">
            <a:avLst>
              <a:gd name="adj" fmla="val 4138"/>
            </a:avLst>
          </a:prstGeom>
          <a:solidFill>
            <a:srgbClr val="FFFFFF"/>
          </a:solidFill>
          <a:ln w="12700">
            <a:solidFill>
              <a:srgbClr val="DCE7F6"/>
            </a:solidFill>
            <a:prstDash val="solid"/>
          </a:ln>
        </p:spPr>
        <p:txBody>
          <a:bodyPr/>
          <a:lstStyle/>
          <a:p>
            <a:endParaRPr lang="en-US"/>
          </a:p>
        </p:txBody>
      </p:sp>
      <p:sp>
        <p:nvSpPr>
          <p:cNvPr id="12" name="Text 10"/>
          <p:cNvSpPr/>
          <p:nvPr/>
        </p:nvSpPr>
        <p:spPr>
          <a:xfrm>
            <a:off x="6629400" y="4782312"/>
            <a:ext cx="4754880" cy="228600"/>
          </a:xfrm>
          <a:prstGeom prst="rect">
            <a:avLst/>
          </a:prstGeom>
          <a:noFill/>
          <a:ln/>
        </p:spPr>
        <p:txBody>
          <a:bodyPr wrap="square" rtlCol="0" anchor="ctr"/>
          <a:lstStyle/>
          <a:p>
            <a:pPr marL="0" indent="0">
              <a:buNone/>
            </a:pPr>
            <a:r>
              <a:rPr lang="en-US" sz="2000" b="1" dirty="0">
                <a:solidFill>
                  <a:srgbClr val="1F5AA6"/>
                </a:solidFill>
                <a:latin typeface="Calibri" pitchFamily="34" charset="0"/>
                <a:ea typeface="Calibri" pitchFamily="34" charset="-122"/>
                <a:cs typeface="Calibri" pitchFamily="34" charset="-120"/>
              </a:rPr>
              <a:t>Innovation spreads outward</a:t>
            </a:r>
            <a:endParaRPr lang="en-US" sz="2000" dirty="0"/>
          </a:p>
        </p:txBody>
      </p:sp>
      <p:sp>
        <p:nvSpPr>
          <p:cNvPr id="13" name="Text 11"/>
          <p:cNvSpPr/>
          <p:nvPr/>
        </p:nvSpPr>
        <p:spPr>
          <a:xfrm>
            <a:off x="6629400" y="5084064"/>
            <a:ext cx="4617720" cy="384048"/>
          </a:xfrm>
          <a:prstGeom prst="rect">
            <a:avLst/>
          </a:prstGeom>
          <a:noFill/>
          <a:ln/>
        </p:spPr>
        <p:txBody>
          <a:bodyPr wrap="square" rtlCol="0" anchor="ctr"/>
          <a:lstStyle/>
          <a:p>
            <a:pPr marL="0" indent="0">
              <a:buNone/>
            </a:pPr>
            <a:r>
              <a:rPr lang="en-US" sz="1500" dirty="0">
                <a:solidFill>
                  <a:srgbClr val="17202A"/>
                </a:solidFill>
                <a:latin typeface="Calibri" pitchFamily="34" charset="0"/>
                <a:ea typeface="Calibri" pitchFamily="34" charset="-122"/>
                <a:cs typeface="Calibri" pitchFamily="34" charset="-120"/>
              </a:rPr>
              <a:t>Digital product creation may become less concentrated inside traditional engineering teams.</a:t>
            </a:r>
            <a:endParaRPr lang="en-US" sz="1500" dirty="0"/>
          </a:p>
        </p:txBody>
      </p:sp>
      <p:sp>
        <p:nvSpPr>
          <p:cNvPr id="14" name="Text 12"/>
          <p:cNvSpPr/>
          <p:nvPr/>
        </p:nvSpPr>
        <p:spPr>
          <a:xfrm>
            <a:off x="11384280" y="6400800"/>
            <a:ext cx="274320" cy="18288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93192"/>
            <a:ext cx="6949440" cy="420624"/>
          </a:xfrm>
          <a:prstGeom prst="rect">
            <a:avLst/>
          </a:prstGeom>
          <a:noFill/>
          <a:ln/>
        </p:spPr>
        <p:txBody>
          <a:bodyPr wrap="square" rtlCol="0" anchor="ctr"/>
          <a:lstStyle/>
          <a:p>
            <a:pPr marL="0" indent="0">
              <a:buNone/>
            </a:pPr>
            <a:r>
              <a:rPr lang="en-US" sz="2600" b="1" dirty="0">
                <a:solidFill>
                  <a:srgbClr val="17202A"/>
                </a:solidFill>
                <a:latin typeface="Calibri" pitchFamily="34" charset="0"/>
                <a:ea typeface="Calibri" pitchFamily="34" charset="-122"/>
                <a:cs typeface="Calibri" pitchFamily="34" charset="-120"/>
              </a:rPr>
              <a:t>AI-generated summary: relevance to the construction industry</a:t>
            </a:r>
            <a:endParaRPr lang="en-US" sz="2600" dirty="0"/>
          </a:p>
        </p:txBody>
      </p:sp>
      <p:sp>
        <p:nvSpPr>
          <p:cNvPr id="3" name="Shape 1"/>
          <p:cNvSpPr/>
          <p:nvPr/>
        </p:nvSpPr>
        <p:spPr>
          <a:xfrm>
            <a:off x="566928" y="1335024"/>
            <a:ext cx="11027664" cy="1993392"/>
          </a:xfrm>
          <a:prstGeom prst="roundRect">
            <a:avLst>
              <a:gd name="adj" fmla="val 3670"/>
            </a:avLst>
          </a:prstGeom>
          <a:solidFill>
            <a:srgbClr val="FFFFFF"/>
          </a:solidFill>
          <a:ln w="12700">
            <a:solidFill>
              <a:srgbClr val="DCE7F6"/>
            </a:solidFill>
            <a:prstDash val="solid"/>
          </a:ln>
        </p:spPr>
        <p:txBody>
          <a:bodyPr/>
          <a:lstStyle/>
          <a:p>
            <a:endParaRPr lang="en-US"/>
          </a:p>
        </p:txBody>
      </p:sp>
      <p:sp>
        <p:nvSpPr>
          <p:cNvPr id="4" name="Text 2"/>
          <p:cNvSpPr/>
          <p:nvPr/>
        </p:nvSpPr>
        <p:spPr>
          <a:xfrm>
            <a:off x="868680" y="1645920"/>
            <a:ext cx="10469880" cy="1389888"/>
          </a:xfrm>
          <a:prstGeom prst="rect">
            <a:avLst/>
          </a:prstGeom>
          <a:noFill/>
          <a:ln/>
        </p:spPr>
        <p:txBody>
          <a:bodyPr wrap="square" lIns="508" tIns="508" rIns="508" bIns="508" rtlCol="0" anchor="ctr"/>
          <a:lstStyle/>
          <a:p>
            <a:pPr marL="0" indent="0">
              <a:buNone/>
            </a:pPr>
            <a:r>
              <a:rPr lang="en-US" sz="1800" dirty="0">
                <a:solidFill>
                  <a:srgbClr val="17202A"/>
                </a:solidFill>
                <a:latin typeface="Calibri" pitchFamily="34" charset="0"/>
                <a:ea typeface="Calibri" pitchFamily="34" charset="-122"/>
                <a:cs typeface="Calibri" pitchFamily="34" charset="-120"/>
              </a:rPr>
              <a:t>For the construction industry, the article matters because many construction firms rely on people with deep field knowledge but limited programming experience. Vibe-coding tools could help project managers, estimators, safety teams, and operations staff quickly create custom dashboards, reporting tools, site documentation workflows, and internal apps without waiting on outside software developers. However, construction companies would still need governance, testing, cybersecurity review, and human oversight before using AI-built tools for safety, scheduling, contracts, or compliance, because errors in those areas could create serious operational and legal risks.</a:t>
            </a:r>
            <a:endParaRPr lang="en-US" sz="1800" dirty="0"/>
          </a:p>
        </p:txBody>
      </p:sp>
      <p:sp>
        <p:nvSpPr>
          <p:cNvPr id="5" name="Shape 3"/>
          <p:cNvSpPr/>
          <p:nvPr/>
        </p:nvSpPr>
        <p:spPr>
          <a:xfrm>
            <a:off x="566928" y="3712464"/>
            <a:ext cx="5321808" cy="1938528"/>
          </a:xfrm>
          <a:prstGeom prst="roundRect">
            <a:avLst>
              <a:gd name="adj" fmla="val 2830"/>
            </a:avLst>
          </a:prstGeom>
          <a:solidFill>
            <a:srgbClr val="EEF3FA"/>
          </a:solidFill>
          <a:ln w="12700">
            <a:solidFill>
              <a:srgbClr val="EEF3FA"/>
            </a:solidFill>
            <a:prstDash val="solid"/>
          </a:ln>
        </p:spPr>
        <p:txBody>
          <a:bodyPr/>
          <a:lstStyle/>
          <a:p>
            <a:endParaRPr lang="en-US"/>
          </a:p>
        </p:txBody>
      </p:sp>
      <p:sp>
        <p:nvSpPr>
          <p:cNvPr id="6" name="Text 4"/>
          <p:cNvSpPr/>
          <p:nvPr/>
        </p:nvSpPr>
        <p:spPr>
          <a:xfrm>
            <a:off x="841248" y="3977640"/>
            <a:ext cx="4389120" cy="274320"/>
          </a:xfrm>
          <a:prstGeom prst="rect">
            <a:avLst/>
          </a:prstGeom>
          <a:noFill/>
          <a:ln/>
        </p:spPr>
        <p:txBody>
          <a:bodyPr wrap="square" rtlCol="0" anchor="ctr"/>
          <a:lstStyle/>
          <a:p>
            <a:pPr marL="0" indent="0">
              <a:buNone/>
            </a:pPr>
            <a:r>
              <a:rPr lang="en-US" sz="1900" b="1" dirty="0">
                <a:solidFill>
                  <a:srgbClr val="1F5AA6"/>
                </a:solidFill>
                <a:latin typeface="Calibri" pitchFamily="34" charset="0"/>
                <a:ea typeface="Calibri" pitchFamily="34" charset="-122"/>
                <a:cs typeface="Calibri" pitchFamily="34" charset="-120"/>
              </a:rPr>
              <a:t>Potential construction uses</a:t>
            </a:r>
            <a:endParaRPr lang="en-US" sz="1900" dirty="0"/>
          </a:p>
        </p:txBody>
      </p:sp>
      <p:sp>
        <p:nvSpPr>
          <p:cNvPr id="7" name="Text 5"/>
          <p:cNvSpPr/>
          <p:nvPr/>
        </p:nvSpPr>
        <p:spPr>
          <a:xfrm>
            <a:off x="877824" y="4370832"/>
            <a:ext cx="4480560" cy="960120"/>
          </a:xfrm>
          <a:prstGeom prst="rect">
            <a:avLst/>
          </a:prstGeom>
          <a:noFill/>
          <a:ln/>
        </p:spPr>
        <p:txBody>
          <a:bodyPr wrap="square" rtlCol="0" anchor="ctr"/>
          <a:lstStyle/>
          <a:p>
            <a:pPr marL="0" indent="0">
              <a:buNone/>
            </a:pPr>
            <a:r>
              <a:rPr lang="en-US" sz="1600" dirty="0">
                <a:solidFill>
                  <a:srgbClr val="17202A"/>
                </a:solidFill>
                <a:latin typeface="Calibri" pitchFamily="34" charset="0"/>
                <a:ea typeface="Calibri" pitchFamily="34" charset="-122"/>
                <a:cs typeface="Calibri" pitchFamily="34" charset="-120"/>
              </a:rPr>
              <a:t>• Safety reporting tools</a:t>
            </a:r>
            <a:endParaRPr lang="en-US" sz="1600" dirty="0"/>
          </a:p>
          <a:p>
            <a:pPr marL="0" indent="0">
              <a:buNone/>
            </a:pPr>
            <a:r>
              <a:rPr lang="en-US" sz="1600" dirty="0">
                <a:solidFill>
                  <a:srgbClr val="17202A"/>
                </a:solidFill>
                <a:latin typeface="Calibri" pitchFamily="34" charset="0"/>
                <a:ea typeface="Calibri" pitchFamily="34" charset="-122"/>
                <a:cs typeface="Calibri" pitchFamily="34" charset="-120"/>
              </a:rPr>
              <a:t>• Field documentation workflows</a:t>
            </a:r>
            <a:endParaRPr lang="en-US" sz="1600" dirty="0"/>
          </a:p>
          <a:p>
            <a:pPr marL="0" indent="0">
              <a:buNone/>
            </a:pPr>
            <a:r>
              <a:rPr lang="en-US" sz="1600" dirty="0">
                <a:solidFill>
                  <a:srgbClr val="17202A"/>
                </a:solidFill>
                <a:latin typeface="Calibri" pitchFamily="34" charset="0"/>
                <a:ea typeface="Calibri" pitchFamily="34" charset="-122"/>
                <a:cs typeface="Calibri" pitchFamily="34" charset="-120"/>
              </a:rPr>
              <a:t>• Estimating and dashboard apps</a:t>
            </a:r>
            <a:endParaRPr lang="en-US" sz="1600" dirty="0"/>
          </a:p>
          <a:p>
            <a:pPr marL="0" indent="0">
              <a:buNone/>
            </a:pPr>
            <a:r>
              <a:rPr lang="en-US" sz="1600" dirty="0">
                <a:solidFill>
                  <a:srgbClr val="17202A"/>
                </a:solidFill>
                <a:latin typeface="Calibri" pitchFamily="34" charset="0"/>
                <a:ea typeface="Calibri" pitchFamily="34" charset="-122"/>
                <a:cs typeface="Calibri" pitchFamily="34" charset="-120"/>
              </a:rPr>
              <a:t>• Internal forms for project controls</a:t>
            </a:r>
            <a:endParaRPr lang="en-US" sz="1600" dirty="0"/>
          </a:p>
        </p:txBody>
      </p:sp>
      <p:sp>
        <p:nvSpPr>
          <p:cNvPr id="8" name="Shape 6"/>
          <p:cNvSpPr/>
          <p:nvPr/>
        </p:nvSpPr>
        <p:spPr>
          <a:xfrm>
            <a:off x="6236208" y="3712464"/>
            <a:ext cx="5358384" cy="1938528"/>
          </a:xfrm>
          <a:prstGeom prst="roundRect">
            <a:avLst>
              <a:gd name="adj" fmla="val 2830"/>
            </a:avLst>
          </a:prstGeom>
          <a:solidFill>
            <a:srgbClr val="FFFFFF"/>
          </a:solidFill>
          <a:ln w="12700">
            <a:solidFill>
              <a:srgbClr val="DCE7F6"/>
            </a:solidFill>
            <a:prstDash val="solid"/>
          </a:ln>
        </p:spPr>
        <p:txBody>
          <a:bodyPr/>
          <a:lstStyle/>
          <a:p>
            <a:endParaRPr lang="en-US"/>
          </a:p>
        </p:txBody>
      </p:sp>
      <p:sp>
        <p:nvSpPr>
          <p:cNvPr id="9" name="Text 7"/>
          <p:cNvSpPr/>
          <p:nvPr/>
        </p:nvSpPr>
        <p:spPr>
          <a:xfrm>
            <a:off x="6510528" y="3977640"/>
            <a:ext cx="4389120" cy="274320"/>
          </a:xfrm>
          <a:prstGeom prst="rect">
            <a:avLst/>
          </a:prstGeom>
          <a:noFill/>
          <a:ln/>
        </p:spPr>
        <p:txBody>
          <a:bodyPr wrap="square" rtlCol="0" anchor="ctr"/>
          <a:lstStyle/>
          <a:p>
            <a:pPr marL="0" indent="0">
              <a:buNone/>
            </a:pPr>
            <a:r>
              <a:rPr lang="en-US" sz="1900" b="1" dirty="0">
                <a:solidFill>
                  <a:srgbClr val="1F5AA6"/>
                </a:solidFill>
                <a:latin typeface="Calibri" pitchFamily="34" charset="0"/>
                <a:ea typeface="Calibri" pitchFamily="34" charset="-122"/>
                <a:cs typeface="Calibri" pitchFamily="34" charset="-120"/>
              </a:rPr>
              <a:t>Required safeguards</a:t>
            </a:r>
            <a:endParaRPr lang="en-US" sz="1900" dirty="0"/>
          </a:p>
        </p:txBody>
      </p:sp>
      <p:sp>
        <p:nvSpPr>
          <p:cNvPr id="10" name="Text 8"/>
          <p:cNvSpPr/>
          <p:nvPr/>
        </p:nvSpPr>
        <p:spPr>
          <a:xfrm>
            <a:off x="6547104" y="4370832"/>
            <a:ext cx="4526280" cy="960120"/>
          </a:xfrm>
          <a:prstGeom prst="rect">
            <a:avLst/>
          </a:prstGeom>
          <a:noFill/>
          <a:ln/>
        </p:spPr>
        <p:txBody>
          <a:bodyPr wrap="square" rtlCol="0" anchor="ctr"/>
          <a:lstStyle/>
          <a:p>
            <a:pPr marL="0" indent="0">
              <a:buNone/>
            </a:pPr>
            <a:r>
              <a:rPr lang="en-US" sz="1600" dirty="0">
                <a:solidFill>
                  <a:srgbClr val="17202A"/>
                </a:solidFill>
                <a:latin typeface="Calibri" pitchFamily="34" charset="0"/>
                <a:ea typeface="Calibri" pitchFamily="34" charset="-122"/>
                <a:cs typeface="Calibri" pitchFamily="34" charset="-120"/>
              </a:rPr>
              <a:t>• Testing before deployment</a:t>
            </a:r>
            <a:endParaRPr lang="en-US" sz="1600" dirty="0"/>
          </a:p>
          <a:p>
            <a:pPr marL="0" indent="0">
              <a:buNone/>
            </a:pPr>
            <a:r>
              <a:rPr lang="en-US" sz="1600" dirty="0">
                <a:solidFill>
                  <a:srgbClr val="17202A"/>
                </a:solidFill>
                <a:latin typeface="Calibri" pitchFamily="34" charset="0"/>
                <a:ea typeface="Calibri" pitchFamily="34" charset="-122"/>
                <a:cs typeface="Calibri" pitchFamily="34" charset="-120"/>
              </a:rPr>
              <a:t>• Cybersecurity and data review</a:t>
            </a:r>
            <a:endParaRPr lang="en-US" sz="1600" dirty="0"/>
          </a:p>
          <a:p>
            <a:pPr marL="0" indent="0">
              <a:buNone/>
            </a:pPr>
            <a:r>
              <a:rPr lang="en-US" sz="1600" dirty="0">
                <a:solidFill>
                  <a:srgbClr val="17202A"/>
                </a:solidFill>
                <a:latin typeface="Calibri" pitchFamily="34" charset="0"/>
                <a:ea typeface="Calibri" pitchFamily="34" charset="-122"/>
                <a:cs typeface="Calibri" pitchFamily="34" charset="-120"/>
              </a:rPr>
              <a:t>• Human approval for safety/contract use</a:t>
            </a:r>
            <a:endParaRPr lang="en-US" sz="1600" dirty="0"/>
          </a:p>
          <a:p>
            <a:pPr marL="0" indent="0">
              <a:buNone/>
            </a:pPr>
            <a:r>
              <a:rPr lang="en-US" sz="1600" dirty="0">
                <a:solidFill>
                  <a:srgbClr val="17202A"/>
                </a:solidFill>
                <a:latin typeface="Calibri" pitchFamily="34" charset="0"/>
                <a:ea typeface="Calibri" pitchFamily="34" charset="-122"/>
                <a:cs typeface="Calibri" pitchFamily="34" charset="-120"/>
              </a:rPr>
              <a:t>• Governance for compliance workflows</a:t>
            </a:r>
            <a:endParaRPr lang="en-US" sz="1600" dirty="0"/>
          </a:p>
        </p:txBody>
      </p:sp>
      <p:sp>
        <p:nvSpPr>
          <p:cNvPr id="11" name="Text 9"/>
          <p:cNvSpPr/>
          <p:nvPr/>
        </p:nvSpPr>
        <p:spPr>
          <a:xfrm>
            <a:off x="11384280" y="6400800"/>
            <a:ext cx="274320" cy="18288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93192"/>
            <a:ext cx="6949440" cy="420624"/>
          </a:xfrm>
          <a:prstGeom prst="rect">
            <a:avLst/>
          </a:prstGeom>
          <a:noFill/>
          <a:ln/>
        </p:spPr>
        <p:txBody>
          <a:bodyPr wrap="square" rtlCol="0" anchor="ctr"/>
          <a:lstStyle/>
          <a:p>
            <a:pPr marL="0" indent="0">
              <a:buNone/>
            </a:pPr>
            <a:r>
              <a:rPr lang="en-US" sz="2600" b="1" dirty="0">
                <a:solidFill>
                  <a:srgbClr val="17202A"/>
                </a:solidFill>
                <a:latin typeface="Calibri" pitchFamily="34" charset="0"/>
                <a:ea typeface="Calibri" pitchFamily="34" charset="-122"/>
                <a:cs typeface="Calibri" pitchFamily="34" charset="-120"/>
              </a:rPr>
              <a:t>Interactive component: class discussion / quick response</a:t>
            </a:r>
            <a:endParaRPr lang="en-US" sz="2600" dirty="0"/>
          </a:p>
        </p:txBody>
      </p:sp>
      <p:sp>
        <p:nvSpPr>
          <p:cNvPr id="3" name="Shape 1"/>
          <p:cNvSpPr/>
          <p:nvPr/>
        </p:nvSpPr>
        <p:spPr>
          <a:xfrm>
            <a:off x="566928" y="1325880"/>
            <a:ext cx="11027664" cy="4526280"/>
          </a:xfrm>
          <a:prstGeom prst="roundRect">
            <a:avLst>
              <a:gd name="adj" fmla="val 1616"/>
            </a:avLst>
          </a:prstGeom>
          <a:solidFill>
            <a:srgbClr val="FFFFFF"/>
          </a:solidFill>
          <a:ln w="12700">
            <a:solidFill>
              <a:srgbClr val="DCE7F6"/>
            </a:solidFill>
            <a:prstDash val="solid"/>
          </a:ln>
        </p:spPr>
        <p:txBody>
          <a:bodyPr/>
          <a:lstStyle/>
          <a:p>
            <a:endParaRPr lang="en-US"/>
          </a:p>
        </p:txBody>
      </p:sp>
      <p:sp>
        <p:nvSpPr>
          <p:cNvPr id="4" name="Text 2"/>
          <p:cNvSpPr/>
          <p:nvPr/>
        </p:nvSpPr>
        <p:spPr>
          <a:xfrm>
            <a:off x="914400" y="1783080"/>
            <a:ext cx="9966960" cy="2560320"/>
          </a:xfrm>
          <a:prstGeom prst="rect">
            <a:avLst/>
          </a:prstGeom>
          <a:noFill/>
          <a:ln/>
        </p:spPr>
        <p:txBody>
          <a:bodyPr wrap="square" rtlCol="0" anchor="ctr"/>
          <a:lstStyle/>
          <a:p>
            <a:pPr marL="0" indent="0">
              <a:buNone/>
            </a:pPr>
            <a:r>
              <a:rPr lang="en-US" sz="2200" dirty="0">
                <a:solidFill>
                  <a:srgbClr val="17202A"/>
                </a:solidFill>
                <a:latin typeface="Calibri" pitchFamily="34" charset="0"/>
                <a:ea typeface="Calibri" pitchFamily="34" charset="-122"/>
                <a:cs typeface="Calibri" pitchFamily="34" charset="-120"/>
              </a:rPr>
              <a:t>1. Which construction task is the best fit for vibe coding first: safety reporting, field data capture, scheduling, or estimating?</a:t>
            </a:r>
            <a:endParaRPr lang="en-US" sz="2200" dirty="0"/>
          </a:p>
          <a:p>
            <a:pPr marL="0" indent="0">
              <a:buNone/>
            </a:pPr>
            <a:endParaRPr lang="en-US" sz="2200" dirty="0"/>
          </a:p>
          <a:p>
            <a:pPr marL="0" indent="0">
              <a:buNone/>
            </a:pPr>
            <a:r>
              <a:rPr lang="en-US" sz="2200" dirty="0">
                <a:solidFill>
                  <a:srgbClr val="17202A"/>
                </a:solidFill>
                <a:latin typeface="Calibri" pitchFamily="34" charset="0"/>
                <a:ea typeface="Calibri" pitchFamily="34" charset="-122"/>
                <a:cs typeface="Calibri" pitchFamily="34" charset="-120"/>
              </a:rPr>
              <a:t>2. What is the biggest risk of AI-built tools in construction: incorrect data, cybersecurity, compliance mistakes, or overreliance by staff?</a:t>
            </a:r>
            <a:endParaRPr lang="en-US" sz="2200" dirty="0"/>
          </a:p>
          <a:p>
            <a:pPr marL="0" indent="0">
              <a:buNone/>
            </a:pPr>
            <a:endParaRPr lang="en-US" sz="2200" dirty="0"/>
          </a:p>
          <a:p>
            <a:pPr marL="0" indent="0">
              <a:buNone/>
            </a:pPr>
            <a:r>
              <a:rPr lang="en-US" sz="2200" dirty="0">
                <a:solidFill>
                  <a:srgbClr val="17202A"/>
                </a:solidFill>
                <a:latin typeface="Calibri" pitchFamily="34" charset="0"/>
                <a:ea typeface="Calibri" pitchFamily="34" charset="-122"/>
                <a:cs typeface="Calibri" pitchFamily="34" charset="-120"/>
              </a:rPr>
              <a:t>3. Should non-programmers be encouraged to build internal tools if IT or management reviews them before use?</a:t>
            </a:r>
            <a:endParaRPr lang="en-US" sz="2200" dirty="0"/>
          </a:p>
        </p:txBody>
      </p:sp>
      <p:sp>
        <p:nvSpPr>
          <p:cNvPr id="5" name="Shape 3"/>
          <p:cNvSpPr/>
          <p:nvPr/>
        </p:nvSpPr>
        <p:spPr>
          <a:xfrm>
            <a:off x="868680" y="4983480"/>
            <a:ext cx="4937760" cy="512064"/>
          </a:xfrm>
          <a:prstGeom prst="roundRect">
            <a:avLst>
              <a:gd name="adj" fmla="val 8929"/>
            </a:avLst>
          </a:prstGeom>
          <a:solidFill>
            <a:srgbClr val="EEF3FA"/>
          </a:solidFill>
          <a:ln w="12700">
            <a:solidFill>
              <a:srgbClr val="EEF3FA"/>
            </a:solidFill>
            <a:prstDash val="solid"/>
          </a:ln>
        </p:spPr>
        <p:txBody>
          <a:bodyPr/>
          <a:lstStyle/>
          <a:p>
            <a:endParaRPr lang="en-US"/>
          </a:p>
        </p:txBody>
      </p:sp>
      <p:sp>
        <p:nvSpPr>
          <p:cNvPr id="6" name="Text 4"/>
          <p:cNvSpPr/>
          <p:nvPr/>
        </p:nvSpPr>
        <p:spPr>
          <a:xfrm>
            <a:off x="1051560" y="5138928"/>
            <a:ext cx="2011680" cy="182880"/>
          </a:xfrm>
          <a:prstGeom prst="rect">
            <a:avLst/>
          </a:prstGeom>
          <a:noFill/>
          <a:ln/>
        </p:spPr>
        <p:txBody>
          <a:bodyPr wrap="square" rtlCol="0" anchor="ctr"/>
          <a:lstStyle/>
          <a:p>
            <a:pPr marL="0" indent="0">
              <a:buNone/>
            </a:pPr>
            <a:r>
              <a:rPr lang="en-US" sz="1250" dirty="0">
                <a:solidFill>
                  <a:srgbClr val="4B5563"/>
                </a:solidFill>
                <a:latin typeface="Calibri" pitchFamily="34" charset="0"/>
                <a:ea typeface="Calibri" pitchFamily="34" charset="-122"/>
                <a:cs typeface="Calibri" pitchFamily="34" charset="-120"/>
              </a:rPr>
              <a:t>Date: March 11</a:t>
            </a:r>
            <a:r>
              <a:rPr lang="en-US" sz="1250" baseline="30000" dirty="0">
                <a:solidFill>
                  <a:srgbClr val="4B5563"/>
                </a:solidFill>
                <a:latin typeface="Calibri" pitchFamily="34" charset="0"/>
                <a:ea typeface="Calibri" pitchFamily="34" charset="-122"/>
                <a:cs typeface="Calibri" pitchFamily="34" charset="-120"/>
              </a:rPr>
              <a:t>th</a:t>
            </a:r>
            <a:r>
              <a:rPr lang="en-US" sz="1250" dirty="0">
                <a:solidFill>
                  <a:srgbClr val="4B5563"/>
                </a:solidFill>
                <a:latin typeface="Calibri" pitchFamily="34" charset="0"/>
                <a:ea typeface="Calibri" pitchFamily="34" charset="-122"/>
                <a:cs typeface="Calibri" pitchFamily="34" charset="-120"/>
              </a:rPr>
              <a:t> 2026 ____________________</a:t>
            </a:r>
            <a:endParaRPr lang="en-US" sz="1250" dirty="0"/>
          </a:p>
        </p:txBody>
      </p:sp>
      <p:sp>
        <p:nvSpPr>
          <p:cNvPr id="7" name="Text 5"/>
          <p:cNvSpPr/>
          <p:nvPr/>
        </p:nvSpPr>
        <p:spPr>
          <a:xfrm>
            <a:off x="3611880" y="5138928"/>
            <a:ext cx="2011680" cy="182880"/>
          </a:xfrm>
          <a:prstGeom prst="rect">
            <a:avLst/>
          </a:prstGeom>
          <a:noFill/>
          <a:ln/>
        </p:spPr>
        <p:txBody>
          <a:bodyPr wrap="square" rtlCol="0" anchor="ctr"/>
          <a:lstStyle/>
          <a:p>
            <a:r>
              <a:rPr lang="en-US" sz="1250" dirty="0">
                <a:solidFill>
                  <a:srgbClr val="4B5563"/>
                </a:solidFill>
                <a:latin typeface="Calibri" pitchFamily="34" charset="0"/>
                <a:ea typeface="Calibri" pitchFamily="34" charset="-122"/>
                <a:cs typeface="Calibri" pitchFamily="34" charset="-120"/>
              </a:rPr>
              <a:t>Article </a:t>
            </a:r>
            <a:r>
              <a:rPr lang="en-US" sz="1400" b="1" dirty="0">
                <a:solidFill>
                  <a:srgbClr val="17202A"/>
                </a:solidFill>
                <a:latin typeface="Calibri" pitchFamily="34" charset="0"/>
                <a:ea typeface="Calibri" pitchFamily="34" charset="-122"/>
                <a:cs typeface="Calibri" pitchFamily="34" charset="-120"/>
              </a:rPr>
              <a:t>Lovable and the rise of vibe coding</a:t>
            </a:r>
            <a:endParaRPr lang="en-US" sz="1400" dirty="0"/>
          </a:p>
          <a:p>
            <a:pPr marL="0" indent="0">
              <a:buNone/>
            </a:pPr>
            <a:r>
              <a:rPr lang="en-US" sz="1250" dirty="0">
                <a:solidFill>
                  <a:srgbClr val="4B5563"/>
                </a:solidFill>
                <a:latin typeface="Calibri" pitchFamily="34" charset="0"/>
                <a:ea typeface="Calibri" pitchFamily="34" charset="-122"/>
                <a:cs typeface="Calibri" pitchFamily="34" charset="-120"/>
              </a:rPr>
              <a:t>___________________</a:t>
            </a:r>
            <a:endParaRPr lang="en-US" sz="1250" dirty="0"/>
          </a:p>
        </p:txBody>
      </p:sp>
      <p:sp>
        <p:nvSpPr>
          <p:cNvPr id="8" name="Text 6"/>
          <p:cNvSpPr/>
          <p:nvPr/>
        </p:nvSpPr>
        <p:spPr>
          <a:xfrm>
            <a:off x="9829800" y="5486400"/>
            <a:ext cx="1097280" cy="182880"/>
          </a:xfrm>
          <a:prstGeom prst="rect">
            <a:avLst/>
          </a:prstGeom>
          <a:noFill/>
          <a:ln/>
        </p:spPr>
        <p:txBody>
          <a:bodyPr wrap="square" rtlCol="0" anchor="ctr"/>
          <a:lstStyle/>
          <a:p>
            <a:pPr marL="0" indent="0" algn="r">
              <a:buNone/>
            </a:pPr>
            <a:r>
              <a:rPr lang="en-US" sz="1200" u="sng" dirty="0">
                <a:solidFill>
                  <a:srgbClr val="1F5AA6"/>
                </a:solidFill>
                <a:uFill>
                  <a:solidFill>
                    <a:srgbClr val="1F5AA6"/>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Article link</a:t>
            </a:r>
            <a:endParaRPr lang="en-US" sz="1200" dirty="0"/>
          </a:p>
        </p:txBody>
      </p:sp>
      <p:sp>
        <p:nvSpPr>
          <p:cNvPr id="9" name="Text 7"/>
          <p:cNvSpPr/>
          <p:nvPr/>
        </p:nvSpPr>
        <p:spPr>
          <a:xfrm>
            <a:off x="11384280" y="6400800"/>
            <a:ext cx="274320" cy="18288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970</TotalTime>
  <Words>951</Words>
  <Application>Microsoft Office PowerPoint</Application>
  <PresentationFormat>Widescreen</PresentationFormat>
  <Paragraphs>63</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Lovable’s revenue jumps 33% in a month as vibe coding takes off</dc:title>
  <dc:subject>Week 10 Digest - Vibe Coding</dc:subject>
  <dc:creator>OpenAI</dc:creator>
  <cp:lastModifiedBy>Meriya Budhathoki</cp:lastModifiedBy>
  <cp:revision>3</cp:revision>
  <dcterms:created xsi:type="dcterms:W3CDTF">2026-03-16T15:15:46Z</dcterms:created>
  <dcterms:modified xsi:type="dcterms:W3CDTF">2026-03-22T02:52:50Z</dcterms:modified>
</cp:coreProperties>
</file>