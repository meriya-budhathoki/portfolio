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4F096F-61FF-4061-87DA-FD047AAF4A0C}" v="1" dt="2026-02-21T14:07:21.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iya Budhathoki" userId="059dd2c3a8161ba2" providerId="LiveId" clId="{B5166E12-B5F1-4FDE-A0E5-6F4F0260F79B}"/>
    <pc:docChg chg="custSel modSld">
      <pc:chgData name="Meriya Budhathoki" userId="059dd2c3a8161ba2" providerId="LiveId" clId="{B5166E12-B5F1-4FDE-A0E5-6F4F0260F79B}" dt="2026-02-21T14:07:39.611" v="1" actId="21"/>
      <pc:docMkLst>
        <pc:docMk/>
      </pc:docMkLst>
      <pc:sldChg chg="addSp delSp modSp mod delAnim">
        <pc:chgData name="Meriya Budhathoki" userId="059dd2c3a8161ba2" providerId="LiveId" clId="{B5166E12-B5F1-4FDE-A0E5-6F4F0260F79B}" dt="2026-02-21T14:07:39.611" v="1" actId="21"/>
        <pc:sldMkLst>
          <pc:docMk/>
          <pc:sldMk cId="0" sldId="256"/>
        </pc:sldMkLst>
        <pc:picChg chg="add del mod">
          <ac:chgData name="Meriya Budhathoki" userId="059dd2c3a8161ba2" providerId="LiveId" clId="{B5166E12-B5F1-4FDE-A0E5-6F4F0260F79B}" dt="2026-02-21T14:07:39.611" v="1" actId="21"/>
          <ac:picMkLst>
            <pc:docMk/>
            <pc:sldMk cId="0" sldId="256"/>
            <ac:picMk id="4" creationId="{E1F22295-0FCF-4318-B87F-C4AE7A5FCCE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2/21/2026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6292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1203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0578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1208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1312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0580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6303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0787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2/21/2026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1180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8427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6049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2/21/2026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080911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A7AD0A-1871-4DF8-9235-F49D0513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6B04CFB-FAE5-47DD-9B3E-4E9BA7A89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ctrTitle"/>
          </p:nvPr>
        </p:nvSpPr>
        <p:spPr>
          <a:xfrm>
            <a:off x="494475" y="1474969"/>
            <a:ext cx="2117940" cy="1868760"/>
          </a:xfrm>
        </p:spPr>
        <p:txBody>
          <a:bodyPr>
            <a:normAutofit/>
          </a:bodyPr>
          <a:lstStyle/>
          <a:p>
            <a:r>
              <a:rPr lang="en-US" sz="2400"/>
              <a:t>AI Is Different From Other Ed Tech. Here’s How</a:t>
            </a:r>
          </a:p>
        </p:txBody>
      </p:sp>
      <p:sp>
        <p:nvSpPr>
          <p:cNvPr id="3" name="Subtitle 2"/>
          <p:cNvSpPr>
            <a:spLocks noGrp="1"/>
          </p:cNvSpPr>
          <p:nvPr>
            <p:ph type="subTitle" idx="1"/>
          </p:nvPr>
        </p:nvSpPr>
        <p:spPr>
          <a:xfrm>
            <a:off x="494476" y="3531204"/>
            <a:ext cx="2117939" cy="1610643"/>
          </a:xfrm>
        </p:spPr>
        <p:txBody>
          <a:bodyPr>
            <a:normAutofit/>
          </a:bodyPr>
          <a:lstStyle/>
          <a:p>
            <a:r>
              <a:rPr lang="en-US" sz="1400"/>
              <a:t>By Larry Ferlazzo - February 20, 2026</a:t>
            </a:r>
          </a:p>
        </p:txBody>
      </p:sp>
      <p:cxnSp>
        <p:nvCxnSpPr>
          <p:cNvPr id="14" name="Straight Connector 13">
            <a:extLst>
              <a:ext uri="{FF2B5EF4-FFF2-40B4-BE49-F238E27FC236}">
                <a16:creationId xmlns:a16="http://schemas.microsoft.com/office/drawing/2014/main" id="{EE68D41B-9286-479F-9AB7-678C8E348D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4475" y="3528543"/>
            <a:ext cx="2117940"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16" name="Group 15">
            <a:extLst>
              <a:ext uri="{FF2B5EF4-FFF2-40B4-BE49-F238E27FC236}">
                <a16:creationId xmlns:a16="http://schemas.microsoft.com/office/drawing/2014/main" id="{E8ACF89C-CFC3-4D68-B3C4-2BEFB7BBE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84541" y="482171"/>
            <a:ext cx="5670087" cy="5149101"/>
            <a:chOff x="3979389" y="482171"/>
            <a:chExt cx="7560115" cy="5149101"/>
          </a:xfrm>
        </p:grpSpPr>
        <p:sp>
          <p:nvSpPr>
            <p:cNvPr id="17" name="Rectangle 16">
              <a:extLst>
                <a:ext uri="{FF2B5EF4-FFF2-40B4-BE49-F238E27FC236}">
                  <a16:creationId xmlns:a16="http://schemas.microsoft.com/office/drawing/2014/main" id="{3B770B7D-3C5C-4682-8DF0-20783592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6893E11-7EC1-4EB6-A2A8-0B693F8FE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622F7FD7-8884-4FD5-95AB-0B5C6033A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1615" y="977965"/>
            <a:ext cx="4961686"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4176FC5-DE71-648F-E3C5-0F56588FCB17}"/>
              </a:ext>
            </a:extLst>
          </p:cNvPr>
          <p:cNvPicPr>
            <a:picLocks noChangeAspect="1"/>
          </p:cNvPicPr>
          <p:nvPr/>
        </p:nvPicPr>
        <p:blipFill>
          <a:blip r:embed="rId2"/>
          <a:stretch>
            <a:fillRect/>
          </a:stretch>
        </p:blipFill>
        <p:spPr>
          <a:xfrm>
            <a:off x="3463780" y="1965628"/>
            <a:ext cx="4712189" cy="2167606"/>
          </a:xfrm>
          <a:prstGeom prst="rect">
            <a:avLst/>
          </a:prstGeom>
        </p:spPr>
      </p:pic>
      <p:pic>
        <p:nvPicPr>
          <p:cNvPr id="22" name="Picture 21">
            <a:extLst>
              <a:ext uri="{FF2B5EF4-FFF2-40B4-BE49-F238E27FC236}">
                <a16:creationId xmlns:a16="http://schemas.microsoft.com/office/drawing/2014/main" id="{16EFE474-4FE0-4E8F-8F09-5ED2C9E76A8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24" name="Straight Connector 23">
            <a:extLst>
              <a:ext uri="{FF2B5EF4-FFF2-40B4-BE49-F238E27FC236}">
                <a16:creationId xmlns:a16="http://schemas.microsoft.com/office/drawing/2014/main" id="{CF8B8C81-54DC-4AF5-B682-3A2C70A6B5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9393"/>
    </mc:Choice>
    <mc:Fallback>
      <p:transition spd="slow" advTm="939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046595"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7262" y="1240076"/>
            <a:ext cx="2045860" cy="4584527"/>
          </a:xfrm>
        </p:spPr>
        <p:txBody>
          <a:bodyPr>
            <a:normAutofit/>
          </a:bodyPr>
          <a:lstStyle/>
          <a:p>
            <a:r>
              <a:rPr lang="en-US" sz="2500">
                <a:solidFill>
                  <a:srgbClr val="FFFFFF"/>
                </a:solidFill>
              </a:rPr>
              <a:t>Main Findings and Arguments</a:t>
            </a:r>
          </a:p>
        </p:txBody>
      </p:sp>
      <p:sp>
        <p:nvSpPr>
          <p:cNvPr id="3" name="Content Placeholder 2"/>
          <p:cNvSpPr>
            <a:spLocks noGrp="1"/>
          </p:cNvSpPr>
          <p:nvPr>
            <p:ph idx="1"/>
          </p:nvPr>
        </p:nvSpPr>
        <p:spPr>
          <a:xfrm>
            <a:off x="3529195" y="1240077"/>
            <a:ext cx="4526120" cy="4916465"/>
          </a:xfrm>
        </p:spPr>
        <p:txBody>
          <a:bodyPr anchor="t">
            <a:normAutofit/>
          </a:bodyPr>
          <a:lstStyle/>
          <a:p>
            <a:r>
              <a:t>The article discusses the polarized debate around AI in education. Some view AI as a revolutionary tool, while others see it as overhyped. The author emphasizes the need for nuanced discussions around AI's role in the classroom, highlighting its potential for improving learning outcomes and raising philosophical questions about knowledge, creativity, and the human role in education.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046595"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7262" y="1240076"/>
            <a:ext cx="2045860" cy="4584527"/>
          </a:xfrm>
        </p:spPr>
        <p:txBody>
          <a:bodyPr>
            <a:normAutofit/>
          </a:bodyPr>
          <a:lstStyle/>
          <a:p>
            <a:r>
              <a:rPr lang="en-US" sz="2200">
                <a:solidFill>
                  <a:srgbClr val="FFFFFF"/>
                </a:solidFill>
              </a:rPr>
              <a:t>Broader Implications for Society</a:t>
            </a:r>
          </a:p>
        </p:txBody>
      </p:sp>
      <p:sp>
        <p:nvSpPr>
          <p:cNvPr id="3" name="Content Placeholder 2"/>
          <p:cNvSpPr>
            <a:spLocks noGrp="1"/>
          </p:cNvSpPr>
          <p:nvPr>
            <p:ph idx="1"/>
          </p:nvPr>
        </p:nvSpPr>
        <p:spPr>
          <a:xfrm>
            <a:off x="3529195" y="1240077"/>
            <a:ext cx="4526120" cy="4916465"/>
          </a:xfrm>
        </p:spPr>
        <p:txBody>
          <a:bodyPr anchor="t">
            <a:normAutofit/>
          </a:bodyPr>
          <a:lstStyle/>
          <a:p>
            <a:r>
              <a:t>AI is shaping broader societal discussions about the nature of knowledge and creativity. The integration of AI in education raises fundamental questions about what it means to be human, as AI becomes a tool not just for learning but for philosophical reflection on knowledge and its production.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046595"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7262" y="1240076"/>
            <a:ext cx="2045860" cy="4584527"/>
          </a:xfrm>
        </p:spPr>
        <p:txBody>
          <a:bodyPr>
            <a:normAutofit/>
          </a:bodyPr>
          <a:lstStyle/>
          <a:p>
            <a:r>
              <a:rPr lang="en-US" sz="1800">
                <a:solidFill>
                  <a:srgbClr val="FFFFFF"/>
                </a:solidFill>
              </a:rPr>
              <a:t>Relevance to Construction Industry</a:t>
            </a:r>
          </a:p>
        </p:txBody>
      </p:sp>
      <p:sp>
        <p:nvSpPr>
          <p:cNvPr id="3" name="Content Placeholder 2"/>
          <p:cNvSpPr>
            <a:spLocks noGrp="1"/>
          </p:cNvSpPr>
          <p:nvPr>
            <p:ph idx="1"/>
          </p:nvPr>
        </p:nvSpPr>
        <p:spPr>
          <a:xfrm>
            <a:off x="3529195" y="1240077"/>
            <a:ext cx="4526120" cy="4916465"/>
          </a:xfrm>
        </p:spPr>
        <p:txBody>
          <a:bodyPr anchor="t">
            <a:normAutofit/>
          </a:bodyPr>
          <a:lstStyle/>
          <a:p>
            <a:r>
              <a:t>While the article focuses on education, its themes about AI's ethical implications, trust in AI-driven decisions, and the balance between human expertise and AI are also relevant to the construction industry. AI’s role in automation, predictive analytics, and safety monitoring in construction brings up similar ethical concerns.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046595"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7262" y="1240076"/>
            <a:ext cx="2045860" cy="4584527"/>
          </a:xfrm>
        </p:spPr>
        <p:txBody>
          <a:bodyPr>
            <a:normAutofit/>
          </a:bodyPr>
          <a:lstStyle/>
          <a:p>
            <a:r>
              <a:rPr lang="en-US">
                <a:solidFill>
                  <a:srgbClr val="FFFFFF"/>
                </a:solidFill>
              </a:rPr>
              <a:t>Article Link</a:t>
            </a:r>
          </a:p>
        </p:txBody>
      </p:sp>
      <p:sp>
        <p:nvSpPr>
          <p:cNvPr id="3" name="Content Placeholder 2"/>
          <p:cNvSpPr>
            <a:spLocks noGrp="1"/>
          </p:cNvSpPr>
          <p:nvPr>
            <p:ph idx="1"/>
          </p:nvPr>
        </p:nvSpPr>
        <p:spPr>
          <a:xfrm>
            <a:off x="3529195" y="1240077"/>
            <a:ext cx="4526120" cy="4916465"/>
          </a:xfrm>
        </p:spPr>
        <p:txBody>
          <a:bodyPr anchor="t">
            <a:normAutofit/>
          </a:bodyPr>
          <a:lstStyle/>
          <a:p>
            <a:r>
              <a:rPr dirty="0"/>
              <a:t>For full article, visit the link below:</a:t>
            </a:r>
          </a:p>
          <a:p>
            <a:endParaRPr dirty="0"/>
          </a:p>
          <a:p>
            <a:r>
              <a:rPr dirty="0"/>
              <a:t>AI Is Different From Other Ed Tech. Here’s How</a:t>
            </a:r>
          </a:p>
          <a:p>
            <a:r>
              <a:rPr dirty="0"/>
              <a:t>https://www.edweek.org/technology/opinion-ai-is-different-from-other-ed-tech-heres-how/2026/02?utm_source=chatgpt.com</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18</TotalTime>
  <Words>240</Words>
  <Application>Microsoft Office PowerPoint</Application>
  <PresentationFormat>On-screen Show (4:3)</PresentationFormat>
  <Paragraphs>13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Gill Sans MT</vt:lpstr>
      <vt:lpstr>Gallery</vt:lpstr>
      <vt:lpstr>AI Is Different From Other Ed Tech. Here’s How</vt:lpstr>
      <vt:lpstr>Main Findings and Arguments</vt:lpstr>
      <vt:lpstr>Broader Implications for Society</vt:lpstr>
      <vt:lpstr>Relevance to Construction Industry</vt:lpstr>
      <vt:lpstr>Article Link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thippa reddy</dc:creator>
  <cp:keywords/>
  <dc:description>generated using python-pptx</dc:description>
  <cp:lastModifiedBy>Meriya Budhathoki</cp:lastModifiedBy>
  <cp:revision>2</cp:revision>
  <dcterms:created xsi:type="dcterms:W3CDTF">2013-01-27T09:14:16Z</dcterms:created>
  <dcterms:modified xsi:type="dcterms:W3CDTF">2026-02-21T14:07:39Z</dcterms:modified>
  <cp:category/>
</cp:coreProperties>
</file>